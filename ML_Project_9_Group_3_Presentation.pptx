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  <p:sldMasterId id="214748367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IBM Plex Sans"/>
      <p:regular r:id="rId31"/>
      <p:bold r:id="rId32"/>
      <p:italic r:id="rId33"/>
      <p:boldItalic r:id="rId34"/>
    </p:embeddedFont>
    <p:embeddedFont>
      <p:font typeface="Play"/>
      <p:regular r:id="rId35"/>
      <p:bold r:id="rId36"/>
    </p:embeddedFont>
    <p:embeddedFont>
      <p:font typeface="DM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9B127D-79E6-40F0-A62D-5778406C1AF8}">
  <a:tblStyle styleId="{FA9B127D-79E6-40F0-A62D-5778406C1A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DD880F3-B267-4A19-8CC4-8528E6AE9A93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8EE354C-3E2A-4422-89BC-CC35F2F1C3C6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IBMPlexSans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IBMPlexSans-italic.fntdata"/><Relationship Id="rId10" Type="http://schemas.openxmlformats.org/officeDocument/2006/relationships/slide" Target="slides/slide2.xml"/><Relationship Id="rId32" Type="http://schemas.openxmlformats.org/officeDocument/2006/relationships/font" Target="fonts/IBMPlexSans-bold.fntdata"/><Relationship Id="rId13" Type="http://schemas.openxmlformats.org/officeDocument/2006/relationships/slide" Target="slides/slide5.xml"/><Relationship Id="rId35" Type="http://schemas.openxmlformats.org/officeDocument/2006/relationships/font" Target="fonts/Play-regular.fntdata"/><Relationship Id="rId12" Type="http://schemas.openxmlformats.org/officeDocument/2006/relationships/slide" Target="slides/slide4.xml"/><Relationship Id="rId34" Type="http://schemas.openxmlformats.org/officeDocument/2006/relationships/font" Target="fonts/IBMPlexSans-boldItalic.fntdata"/><Relationship Id="rId15" Type="http://schemas.openxmlformats.org/officeDocument/2006/relationships/slide" Target="slides/slide7.xml"/><Relationship Id="rId37" Type="http://schemas.openxmlformats.org/officeDocument/2006/relationships/font" Target="fonts/DMSans-regular.fntdata"/><Relationship Id="rId14" Type="http://schemas.openxmlformats.org/officeDocument/2006/relationships/slide" Target="slides/slide6.xml"/><Relationship Id="rId36" Type="http://schemas.openxmlformats.org/officeDocument/2006/relationships/font" Target="fonts/Play-bold.fntdata"/><Relationship Id="rId17" Type="http://schemas.openxmlformats.org/officeDocument/2006/relationships/slide" Target="slides/slide9.xml"/><Relationship Id="rId39" Type="http://schemas.openxmlformats.org/officeDocument/2006/relationships/font" Target="fonts/DMSans-italic.fntdata"/><Relationship Id="rId16" Type="http://schemas.openxmlformats.org/officeDocument/2006/relationships/slide" Target="slides/slide8.xml"/><Relationship Id="rId38" Type="http://schemas.openxmlformats.org/officeDocument/2006/relationships/font" Target="fonts/DMSans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c8f91d5f6982453_5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2c8f91d5f6982453_5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c8f91d5f6982453_5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2c8f91d5f6982453_5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2c8f91d5f6982453_5_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2d4910db1cab935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h2d4910db1cab935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2d4910db1cab935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2c8f91d5f6982453_5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h2c8f91d5f6982453_5_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2c8f91d5f6982453_5_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2c8f91d5f6982453_5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h2c8f91d5f6982453_5_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2c8f91d5f6982453_5_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2c8f91d5f6982453_5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h2c8f91d5f6982453_5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2c8f91d5f6982453_5_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2c8f91d5f6982453_5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2c8f91d5f6982453_5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2c8f91d5f6982453_5_1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2c8f91d5f6982453_1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h2c8f91d5f6982453_18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h2c8f91d5f6982453_18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2c8f91d5f6982453_3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2c8f91d5f6982453_3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2c8f91d5f6982453_35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2c8f91d5f6982453_18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h2c8f91d5f6982453_18_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2c8f91d5f6982453_18_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1eb388ce2fcb6e8_16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h1eb388ce2fcb6e8_16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Cover.</a:t>
            </a:r>
            <a:endParaRPr/>
          </a:p>
        </p:txBody>
      </p:sp>
      <p:sp>
        <p:nvSpPr>
          <p:cNvPr id="292" name="Google Shape;292;h1eb388ce2fcb6e8_16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1eb388ce2fcb6e8_16_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h1eb388ce2fcb6e8_16_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80/20 split; test R² by depth: 4 → 0.921, 8 → 0.918, 15 → 0.933.</a:t>
            </a:r>
            <a:endParaRPr/>
          </a:p>
        </p:txBody>
      </p:sp>
      <p:sp>
        <p:nvSpPr>
          <p:cNvPr id="300" name="Google Shape;300;h1eb388ce2fcb6e8_16_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1eb388ce2fcb6e8_16_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h1eb388ce2fcb6e8_16_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Folds: 0.905, 0.925, 0.914, 0.920, 0.913. Mild overfitting remains.</a:t>
            </a:r>
            <a:endParaRPr/>
          </a:p>
        </p:txBody>
      </p:sp>
      <p:sp>
        <p:nvSpPr>
          <p:cNvPr id="312" name="Google Shape;312;h1eb388ce2fcb6e8_16_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1eb388ce2fcb6e8_16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h1eb388ce2fcb6e8_16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absolute error on the test set grouped by building type.</a:t>
            </a:r>
            <a:endParaRPr/>
          </a:p>
        </p:txBody>
      </p:sp>
      <p:sp>
        <p:nvSpPr>
          <p:cNvPr id="324" name="Google Shape;324;h1eb388ce2fcb6e8_16_1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55f610596eb488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55f610596eb488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55f610596eb488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h55f610596eb488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55f610596eb48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55f610596eb48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55f610596eb488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h55f610596eb488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55f610596eb4887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55f610596eb488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1eb388ce2fcb6e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1eb388ce2fcb6e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2c8f91d5f6982453_1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h2c8f91d5f6982453_1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2c8f91d5f6982453_1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609600" y="609600"/>
            <a:ext cx="79248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700"/>
              <a:buFont typeface="Georgia"/>
              <a:buNone/>
              <a:defRPr sz="2700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609600" y="1215390"/>
            <a:ext cx="792480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A3A"/>
              </a:buClr>
              <a:buSzPts val="1200"/>
              <a:buNone/>
              <a:defRPr sz="1200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609600" y="609600"/>
            <a:ext cx="79248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700"/>
              <a:buFont typeface="Georgia"/>
              <a:buNone/>
              <a:defRPr b="0" i="0" sz="2700" u="none" cap="none" strike="noStrike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609600" y="1215390"/>
            <a:ext cx="7924800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Goutam363/painting-cost-prediction" TargetMode="External"/><Relationship Id="rId4" Type="http://schemas.openxmlformats.org/officeDocument/2006/relationships/hyperlink" Target="https://painting-cost-prediction.streamlit.app/" TargetMode="External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9"/>
          <p:cNvCxnSpPr/>
          <p:nvPr/>
        </p:nvCxnSpPr>
        <p:spPr>
          <a:xfrm>
            <a:off x="0" y="1298566"/>
            <a:ext cx="914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8" name="Google Shape;138;p29"/>
          <p:cNvCxnSpPr/>
          <p:nvPr/>
        </p:nvCxnSpPr>
        <p:spPr>
          <a:xfrm>
            <a:off x="0" y="464376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29"/>
          <p:cNvSpPr txBox="1"/>
          <p:nvPr/>
        </p:nvSpPr>
        <p:spPr>
          <a:xfrm>
            <a:off x="0" y="4658752"/>
            <a:ext cx="9144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3 Team members</a:t>
            </a:r>
            <a:endParaRPr sz="1100"/>
          </a:p>
        </p:txBody>
      </p:sp>
      <p:pic>
        <p:nvPicPr>
          <p:cNvPr descr="ROORKEE&#10;&#10;AI-generated content may be incorrect." id="140" name="Google Shape;1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3639" y="3379902"/>
            <a:ext cx="1156720" cy="1163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2989800" y="1499825"/>
            <a:ext cx="31644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Goutam Halder      (26911005)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Aditya Sharma       (26535002)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  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Soumyadeep Sen  (26535031)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Ayush Katariya      (26535006)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   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Satyam Shukla       (26535025)</a:t>
            </a:r>
            <a:endParaRPr sz="1100"/>
          </a:p>
        </p:txBody>
      </p:sp>
      <p:sp>
        <p:nvSpPr>
          <p:cNvPr id="142" name="Google Shape;142;p29"/>
          <p:cNvSpPr txBox="1"/>
          <p:nvPr/>
        </p:nvSpPr>
        <p:spPr>
          <a:xfrm>
            <a:off x="-75271" y="192680"/>
            <a:ext cx="9144000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ML to Improve the Business of a Chain of Building Painting Works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7260047" y="4406040"/>
            <a:ext cx="2532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*Authors contributed equally</a:t>
            </a:r>
            <a:endParaRPr sz="1100"/>
          </a:p>
        </p:txBody>
      </p:sp>
      <p:sp>
        <p:nvSpPr>
          <p:cNvPr id="144" name="Google Shape;144;p29"/>
          <p:cNvSpPr txBox="1"/>
          <p:nvPr/>
        </p:nvSpPr>
        <p:spPr>
          <a:xfrm>
            <a:off x="2989851" y="3053322"/>
            <a:ext cx="31642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Indian Institute of Technology Roorkee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30"/>
          <p:cNvCxnSpPr/>
          <p:nvPr/>
        </p:nvCxnSpPr>
        <p:spPr>
          <a:xfrm>
            <a:off x="0" y="75895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Google Shape;151;p30"/>
          <p:cNvSpPr txBox="1"/>
          <p:nvPr/>
        </p:nvSpPr>
        <p:spPr>
          <a:xfrm>
            <a:off x="0" y="86740"/>
            <a:ext cx="914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300">
                <a:solidFill>
                  <a:schemeClr val="dk1"/>
                </a:solidFill>
              </a:rPr>
              <a:t>Group Members and Their Contributions</a:t>
            </a:r>
            <a:endParaRPr b="1" sz="3300">
              <a:solidFill>
                <a:schemeClr val="dk1"/>
              </a:solidFill>
            </a:endParaRPr>
          </a:p>
        </p:txBody>
      </p:sp>
      <p:graphicFrame>
        <p:nvGraphicFramePr>
          <p:cNvPr id="152" name="Google Shape;152;p30"/>
          <p:cNvGraphicFramePr/>
          <p:nvPr/>
        </p:nvGraphicFramePr>
        <p:xfrm>
          <a:off x="952500" y="98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{FA9B127D-79E6-40F0-A62D-5778406C1AF8}</a:tableStyleId>
              </a:tblPr>
              <a:tblGrid>
                <a:gridCol w="1964700"/>
                <a:gridCol w="1686275"/>
                <a:gridCol w="3588025"/>
              </a:tblGrid>
              <a:tr h="3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Enrolment Number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Contribution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Goutam Halder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26911005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collection &amp; understanding of the dataset, data preprocessing, plotting of the results, UI development and integration.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Aditya Sharma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26535002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Implementation and evaluation of the Linear Regression model.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Soumyadeep Sen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26535031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Implementation and evaluation of the Decision Tree model.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Ayush Katariya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26535006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Implementation and evaluation of the Support Vector Regression model.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Satyam Shukla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26535025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 analysis, report preparation, readme file preparation.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31"/>
          <p:cNvCxnSpPr/>
          <p:nvPr/>
        </p:nvCxnSpPr>
        <p:spPr>
          <a:xfrm>
            <a:off x="0" y="75896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Google Shape;159;p31"/>
          <p:cNvSpPr txBox="1"/>
          <p:nvPr/>
        </p:nvSpPr>
        <p:spPr>
          <a:xfrm>
            <a:off x="0" y="86740"/>
            <a:ext cx="914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100"/>
          </a:p>
        </p:txBody>
      </p:sp>
      <p:pic>
        <p:nvPicPr>
          <p:cNvPr id="160" name="Google Shape;1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98" y="1191122"/>
            <a:ext cx="8967006" cy="14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1"/>
          <p:cNvSpPr txBox="1"/>
          <p:nvPr/>
        </p:nvSpPr>
        <p:spPr>
          <a:xfrm>
            <a:off x="-509376" y="844873"/>
            <a:ext cx="4195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8283F"/>
                </a:solidFill>
                <a:latin typeface="Arial"/>
                <a:ea typeface="Arial"/>
                <a:cs typeface="Arial"/>
                <a:sym typeface="Arial"/>
              </a:rPr>
              <a:t>Painting Project Workflow</a:t>
            </a:r>
            <a:endParaRPr sz="1100"/>
          </a:p>
        </p:txBody>
      </p:sp>
      <p:sp>
        <p:nvSpPr>
          <p:cNvPr id="162" name="Google Shape;162;p31"/>
          <p:cNvSpPr/>
          <p:nvPr/>
        </p:nvSpPr>
        <p:spPr>
          <a:xfrm>
            <a:off x="88500" y="2714950"/>
            <a:ext cx="1637100" cy="518400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 Visit and Requirement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(Measure Area, Check Condition) </a:t>
            </a:r>
            <a:endParaRPr sz="1100"/>
          </a:p>
        </p:txBody>
      </p:sp>
      <p:sp>
        <p:nvSpPr>
          <p:cNvPr id="163" name="Google Shape;163;p31"/>
          <p:cNvSpPr/>
          <p:nvPr/>
        </p:nvSpPr>
        <p:spPr>
          <a:xfrm>
            <a:off x="1817750" y="2715012"/>
            <a:ext cx="1545000" cy="518400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Estimation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(Material, Labour, Surface Area)</a:t>
            </a:r>
            <a:endParaRPr sz="1100"/>
          </a:p>
        </p:txBody>
      </p:sp>
      <p:sp>
        <p:nvSpPr>
          <p:cNvPr id="164" name="Google Shape;164;p31"/>
          <p:cNvSpPr/>
          <p:nvPr/>
        </p:nvSpPr>
        <p:spPr>
          <a:xfrm>
            <a:off x="3686225" y="2715012"/>
            <a:ext cx="1154100" cy="518400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Submit Quotation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 Customer) </a:t>
            </a:r>
            <a:endParaRPr sz="1100"/>
          </a:p>
        </p:txBody>
      </p:sp>
      <p:sp>
        <p:nvSpPr>
          <p:cNvPr id="165" name="Google Shape;165;p31"/>
          <p:cNvSpPr/>
          <p:nvPr/>
        </p:nvSpPr>
        <p:spPr>
          <a:xfrm>
            <a:off x="5304850" y="2715012"/>
            <a:ext cx="1154100" cy="518400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Execution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(Painting Work) </a:t>
            </a:r>
            <a:endParaRPr sz="1100"/>
          </a:p>
        </p:txBody>
      </p:sp>
      <p:sp>
        <p:nvSpPr>
          <p:cNvPr id="166" name="Google Shape;166;p31"/>
          <p:cNvSpPr/>
          <p:nvPr/>
        </p:nvSpPr>
        <p:spPr>
          <a:xfrm>
            <a:off x="7115225" y="2715012"/>
            <a:ext cx="1637100" cy="518400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Project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167" name="Google Shape;167;p31"/>
          <p:cNvSpPr/>
          <p:nvPr/>
        </p:nvSpPr>
        <p:spPr>
          <a:xfrm>
            <a:off x="112100" y="3605000"/>
            <a:ext cx="5192700" cy="1428300"/>
          </a:xfrm>
          <a:prstGeom prst="roundRect">
            <a:avLst>
              <a:gd fmla="val 16667" name="adj"/>
            </a:avLst>
          </a:prstGeom>
          <a:solidFill>
            <a:srgbClr val="FFC5C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112095" y="3385545"/>
            <a:ext cx="1390200" cy="219600"/>
          </a:xfrm>
          <a:prstGeom prst="roundRect">
            <a:avLst>
              <a:gd fmla="val 16667" name="adj"/>
            </a:avLst>
          </a:prstGeom>
          <a:solidFill>
            <a:srgbClr val="FF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Challenges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226400" y="3719300"/>
            <a:ext cx="2487000" cy="1204200"/>
          </a:xfrm>
          <a:prstGeom prst="roundRect">
            <a:avLst>
              <a:gd fmla="val 16667" name="adj"/>
            </a:avLst>
          </a:prstGeom>
          <a:solidFill>
            <a:srgbClr val="FFC5C5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Underestimating Cost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reduce profit margin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lead to financial loss</a:t>
            </a:r>
            <a:endParaRPr sz="1100"/>
          </a:p>
          <a:p>
            <a:pPr indent="-1778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2873099" y="3717056"/>
            <a:ext cx="2329500" cy="1208700"/>
          </a:xfrm>
          <a:prstGeom prst="roundRect">
            <a:avLst>
              <a:gd fmla="val 16667" name="adj"/>
            </a:avLst>
          </a:prstGeom>
          <a:solidFill>
            <a:srgbClr val="FFC5C5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Overestimating Cost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Quotation may be higher than competitors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chance of wining bids and retain customers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32"/>
          <p:cNvCxnSpPr/>
          <p:nvPr/>
        </p:nvCxnSpPr>
        <p:spPr>
          <a:xfrm>
            <a:off x="0" y="75895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32"/>
          <p:cNvSpPr txBox="1"/>
          <p:nvPr/>
        </p:nvSpPr>
        <p:spPr>
          <a:xfrm>
            <a:off x="0" y="86741"/>
            <a:ext cx="9144000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100"/>
          </a:p>
        </p:txBody>
      </p:sp>
      <p:sp>
        <p:nvSpPr>
          <p:cNvPr id="178" name="Google Shape;178;p32"/>
          <p:cNvSpPr/>
          <p:nvPr/>
        </p:nvSpPr>
        <p:spPr>
          <a:xfrm>
            <a:off x="1747691" y="1187533"/>
            <a:ext cx="6386100" cy="2097300"/>
          </a:xfrm>
          <a:prstGeom prst="roundRect">
            <a:avLst>
              <a:gd fmla="val 16667" name="adj"/>
            </a:avLst>
          </a:prstGeom>
          <a:solidFill>
            <a:srgbClr val="FFC5C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/>
          <p:nvPr/>
        </p:nvSpPr>
        <p:spPr>
          <a:xfrm>
            <a:off x="1747700" y="854100"/>
            <a:ext cx="1231500" cy="333300"/>
          </a:xfrm>
          <a:prstGeom prst="roundRect">
            <a:avLst>
              <a:gd fmla="val 16667" name="adj"/>
            </a:avLst>
          </a:prstGeom>
          <a:solidFill>
            <a:srgbClr val="FF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Difficulties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/>
          <p:nvPr/>
        </p:nvSpPr>
        <p:spPr>
          <a:xfrm>
            <a:off x="1747663" y="1187563"/>
            <a:ext cx="6386100" cy="2097300"/>
          </a:xfrm>
          <a:prstGeom prst="roundRect">
            <a:avLst>
              <a:gd fmla="val 16667" name="adj"/>
            </a:avLst>
          </a:prstGeom>
          <a:solidFill>
            <a:srgbClr val="FFC5C5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estimates may vary between different estimators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Historical project information may not be used consistently and efficiently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painting business needs estimates quickly when preparing the quotation</a:t>
            </a:r>
            <a:endParaRPr sz="1100"/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Incorrect estimation can affect profitability</a:t>
            </a:r>
            <a:endParaRPr sz="1100"/>
          </a:p>
        </p:txBody>
      </p:sp>
      <p:sp>
        <p:nvSpPr>
          <p:cNvPr id="181" name="Google Shape;181;p32"/>
          <p:cNvSpPr/>
          <p:nvPr/>
        </p:nvSpPr>
        <p:spPr>
          <a:xfrm>
            <a:off x="1884100" y="3567925"/>
            <a:ext cx="6138900" cy="925200"/>
          </a:xfrm>
          <a:prstGeom prst="roundRect">
            <a:avLst>
              <a:gd fmla="val 16667" name="adj"/>
            </a:avLst>
          </a:prstGeom>
          <a:solidFill>
            <a:srgbClr val="84E1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1884114" y="3567998"/>
            <a:ext cx="6139009" cy="925160"/>
          </a:xfrm>
          <a:prstGeom prst="roundRect">
            <a:avLst>
              <a:gd fmla="val 16667" name="adj"/>
            </a:avLst>
          </a:prstGeom>
          <a:solidFill>
            <a:srgbClr val="84E18F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Project Goal: Develop an ML model for painting cost estimation.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33"/>
          <p:cNvCxnSpPr/>
          <p:nvPr/>
        </p:nvCxnSpPr>
        <p:spPr>
          <a:xfrm>
            <a:off x="0" y="75895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9" name="Google Shape;189;p33"/>
          <p:cNvSpPr txBox="1"/>
          <p:nvPr/>
        </p:nvSpPr>
        <p:spPr>
          <a:xfrm>
            <a:off x="0" y="86741"/>
            <a:ext cx="9144000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ML-Based Business Solution</a:t>
            </a:r>
            <a:endParaRPr sz="1100"/>
          </a:p>
        </p:txBody>
      </p:sp>
      <p:sp>
        <p:nvSpPr>
          <p:cNvPr id="190" name="Google Shape;190;p33"/>
          <p:cNvSpPr/>
          <p:nvPr/>
        </p:nvSpPr>
        <p:spPr>
          <a:xfrm>
            <a:off x="736625" y="1924175"/>
            <a:ext cx="460500" cy="240300"/>
          </a:xfrm>
          <a:prstGeom prst="rightArrow">
            <a:avLst>
              <a:gd fmla="val 50000" name="adj1"/>
              <a:gd fmla="val 45942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3444625" y="1908375"/>
            <a:ext cx="488700" cy="240300"/>
          </a:xfrm>
          <a:prstGeom prst="rightArrow">
            <a:avLst>
              <a:gd fmla="val 50000" name="adj1"/>
              <a:gd fmla="val 45942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7540" y="3184625"/>
            <a:ext cx="775998" cy="77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/>
        </p:nvSpPr>
        <p:spPr>
          <a:xfrm>
            <a:off x="6032175" y="3960625"/>
            <a:ext cx="2979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 best model to Frontend UI</a:t>
            </a:r>
            <a:endParaRPr sz="1100"/>
          </a:p>
        </p:txBody>
      </p:sp>
      <p:sp>
        <p:nvSpPr>
          <p:cNvPr id="194" name="Google Shape;194;p33"/>
          <p:cNvSpPr/>
          <p:nvPr/>
        </p:nvSpPr>
        <p:spPr>
          <a:xfrm rot="5400000">
            <a:off x="7101384" y="2720372"/>
            <a:ext cx="688200" cy="240300"/>
          </a:xfrm>
          <a:prstGeom prst="rightArrow">
            <a:avLst>
              <a:gd fmla="val 50000" name="adj1"/>
              <a:gd fmla="val 45942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6323736" y="3347700"/>
            <a:ext cx="733800" cy="276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3"/>
          <p:cNvSpPr/>
          <p:nvPr/>
        </p:nvSpPr>
        <p:spPr>
          <a:xfrm rot="5400000">
            <a:off x="4539614" y="4065755"/>
            <a:ext cx="513300" cy="240300"/>
          </a:xfrm>
          <a:prstGeom prst="rightArrow">
            <a:avLst>
              <a:gd fmla="val 50000" name="adj1"/>
              <a:gd fmla="val 45942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3"/>
          <p:cNvSpPr/>
          <p:nvPr/>
        </p:nvSpPr>
        <p:spPr>
          <a:xfrm rot="-5400000">
            <a:off x="-843925" y="1932725"/>
            <a:ext cx="2659200" cy="5019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Historical BOQ Records</a:t>
            </a:r>
            <a:endParaRPr sz="469">
              <a:solidFill>
                <a:srgbClr val="01010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1197036" y="1603350"/>
            <a:ext cx="2247600" cy="8862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Data Cleaning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&amp;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Feature Preparation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99" name="Google Shape;199;p33"/>
          <p:cNvSpPr/>
          <p:nvPr/>
        </p:nvSpPr>
        <p:spPr>
          <a:xfrm>
            <a:off x="3933375" y="1601225"/>
            <a:ext cx="2098800" cy="8862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Training Multiple Regression Model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3328113" y="3043038"/>
            <a:ext cx="2936400" cy="8862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The model predicts the painting cost according to the requirements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3215475" y="4482750"/>
            <a:ext cx="3161700" cy="4215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Estimator review the quotation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6032225" y="1917375"/>
            <a:ext cx="483300" cy="240300"/>
          </a:xfrm>
          <a:prstGeom prst="rightArrow">
            <a:avLst>
              <a:gd fmla="val 50000" name="adj1"/>
              <a:gd fmla="val 45942" name="adj2"/>
            </a:avLst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6515250" y="1610225"/>
            <a:ext cx="1860600" cy="8862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3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400" lIns="71400" spcFirstLastPara="1" rIns="71400" wrap="square" tIns="4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Test the Models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34"/>
          <p:cNvCxnSpPr/>
          <p:nvPr/>
        </p:nvCxnSpPr>
        <p:spPr>
          <a:xfrm>
            <a:off x="0" y="75895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0" name="Google Shape;210;p34"/>
          <p:cNvSpPr txBox="1"/>
          <p:nvPr/>
        </p:nvSpPr>
        <p:spPr>
          <a:xfrm>
            <a:off x="0" y="86741"/>
            <a:ext cx="9144000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Source and Statistics</a:t>
            </a:r>
            <a:endParaRPr sz="1100"/>
          </a:p>
        </p:txBody>
      </p:sp>
      <p:sp>
        <p:nvSpPr>
          <p:cNvPr id="211" name="Google Shape;211;p34"/>
          <p:cNvSpPr/>
          <p:nvPr/>
        </p:nvSpPr>
        <p:spPr>
          <a:xfrm>
            <a:off x="3646589" y="2301338"/>
            <a:ext cx="1684954" cy="1165130"/>
          </a:xfrm>
          <a:prstGeom prst="roundRect">
            <a:avLst>
              <a:gd fmla="val 22317" name="adj"/>
            </a:avLst>
          </a:prstGeom>
          <a:solidFill>
            <a:srgbClr val="C9DAF8"/>
          </a:solidFill>
          <a:ln cap="flat" cmpd="sng" w="19050">
            <a:solidFill>
              <a:srgbClr val="0B30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1199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Usable sample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3613404" y="854099"/>
            <a:ext cx="1751321" cy="1165130"/>
          </a:xfrm>
          <a:prstGeom prst="roundRect">
            <a:avLst>
              <a:gd fmla="val 22317" name="adj"/>
            </a:avLst>
          </a:prstGeom>
          <a:solidFill>
            <a:srgbClr val="C9DAF8"/>
          </a:solidFill>
          <a:ln cap="flat" cmpd="sng" w="19050">
            <a:solidFill>
              <a:srgbClr val="0B30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25645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samples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1895267" y="3747737"/>
            <a:ext cx="1751321" cy="1165130"/>
          </a:xfrm>
          <a:prstGeom prst="roundRect">
            <a:avLst>
              <a:gd fmla="val 22317" name="adj"/>
            </a:avLst>
          </a:prstGeom>
          <a:solidFill>
            <a:srgbClr val="C9DAF8"/>
          </a:solidFill>
          <a:ln cap="flat" cmpd="sng" w="19050">
            <a:solidFill>
              <a:srgbClr val="0B30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846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sample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5331542" y="3747737"/>
            <a:ext cx="1751321" cy="1165130"/>
          </a:xfrm>
          <a:prstGeom prst="roundRect">
            <a:avLst>
              <a:gd fmla="val 22317" name="adj"/>
            </a:avLst>
          </a:prstGeom>
          <a:solidFill>
            <a:srgbClr val="C9DAF8"/>
          </a:solidFill>
          <a:ln cap="flat" cmpd="sng" w="19050">
            <a:solidFill>
              <a:srgbClr val="0B30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353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sample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4"/>
          <p:cNvSpPr txBox="1"/>
          <p:nvPr/>
        </p:nvSpPr>
        <p:spPr>
          <a:xfrm>
            <a:off x="4125425" y="4042425"/>
            <a:ext cx="87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7:3 ratio</a:t>
            </a:r>
            <a:endParaRPr sz="1100"/>
          </a:p>
        </p:txBody>
      </p:sp>
      <p:cxnSp>
        <p:nvCxnSpPr>
          <p:cNvPr id="216" name="Google Shape;216;p34"/>
          <p:cNvCxnSpPr>
            <a:stCxn id="212" idx="2"/>
            <a:endCxn id="211" idx="0"/>
          </p:cNvCxnSpPr>
          <p:nvPr/>
        </p:nvCxnSpPr>
        <p:spPr>
          <a:xfrm>
            <a:off x="4489065" y="2019229"/>
            <a:ext cx="0" cy="282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17" name="Google Shape;217;p34"/>
          <p:cNvCxnSpPr>
            <a:endCxn id="213" idx="0"/>
          </p:cNvCxnSpPr>
          <p:nvPr/>
        </p:nvCxnSpPr>
        <p:spPr>
          <a:xfrm flipH="1">
            <a:off x="2770928" y="3382037"/>
            <a:ext cx="875700" cy="36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18" name="Google Shape;218;p34"/>
          <p:cNvCxnSpPr>
            <a:endCxn id="214" idx="0"/>
          </p:cNvCxnSpPr>
          <p:nvPr/>
        </p:nvCxnSpPr>
        <p:spPr>
          <a:xfrm>
            <a:off x="5331503" y="3382037"/>
            <a:ext cx="875700" cy="36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35"/>
          <p:cNvCxnSpPr/>
          <p:nvPr/>
        </p:nvCxnSpPr>
        <p:spPr>
          <a:xfrm>
            <a:off x="0" y="75895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5" name="Google Shape;225;p35"/>
          <p:cNvSpPr txBox="1"/>
          <p:nvPr/>
        </p:nvSpPr>
        <p:spPr>
          <a:xfrm>
            <a:off x="0" y="86741"/>
            <a:ext cx="9144000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Features and Target Variable</a:t>
            </a:r>
            <a:endParaRPr sz="1100"/>
          </a:p>
        </p:txBody>
      </p:sp>
      <p:sp>
        <p:nvSpPr>
          <p:cNvPr id="226" name="Google Shape;226;p35"/>
          <p:cNvSpPr/>
          <p:nvPr/>
        </p:nvSpPr>
        <p:spPr>
          <a:xfrm>
            <a:off x="1778692" y="883153"/>
            <a:ext cx="5155800" cy="3153000"/>
          </a:xfrm>
          <a:prstGeom prst="roundRect">
            <a:avLst>
              <a:gd fmla="val 22317" name="adj"/>
            </a:avLst>
          </a:prstGeom>
          <a:solidFill>
            <a:srgbClr val="C9DAF8"/>
          </a:solidFill>
          <a:ln cap="flat" cmpd="sng" w="19050">
            <a:solidFill>
              <a:srgbClr val="0B30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2253610" y="992824"/>
            <a:ext cx="42060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item_name (Ex: Interior emulsion paint (2 coats)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(in sqm)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building_type (Ex: Residential - Independent House)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(Ex: West Bengal)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 (Ex: Kolkata)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project_year (Year of project start)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project_month (Month of project start)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1825900" y="4192525"/>
            <a:ext cx="5155800" cy="757500"/>
          </a:xfrm>
          <a:prstGeom prst="roundRect">
            <a:avLst>
              <a:gd fmla="val 16667" name="adj"/>
            </a:avLst>
          </a:prstGeom>
          <a:solidFill>
            <a:srgbClr val="84E1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2253596" y="4267214"/>
            <a:ext cx="4206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Targeting Variable:</a:t>
            </a:r>
            <a:endParaRPr sz="1100"/>
          </a:p>
          <a:p>
            <a:pPr indent="-2159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amount_inr (Target painting cost)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ctrTitle"/>
          </p:nvPr>
        </p:nvSpPr>
        <p:spPr>
          <a:xfrm flipH="1">
            <a:off x="-4" y="146957"/>
            <a:ext cx="9144001" cy="73478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rPr lang="en" sz="2100"/>
              <a:t>                       </a:t>
            </a:r>
            <a:r>
              <a:rPr b="1" lang="en" sz="3300">
                <a:latin typeface="Arial"/>
                <a:ea typeface="Arial"/>
                <a:cs typeface="Arial"/>
                <a:sym typeface="Arial"/>
              </a:rPr>
              <a:t>Linear Model: Implementation</a:t>
            </a:r>
            <a:br>
              <a:rPr lang="en" sz="2100"/>
            </a:br>
            <a:endParaRPr sz="2100"/>
          </a:p>
        </p:txBody>
      </p:sp>
      <p:sp>
        <p:nvSpPr>
          <p:cNvPr id="236" name="Google Shape;236;p36"/>
          <p:cNvSpPr/>
          <p:nvPr/>
        </p:nvSpPr>
        <p:spPr>
          <a:xfrm>
            <a:off x="236764" y="700496"/>
            <a:ext cx="8684759" cy="34289"/>
          </a:xfrm>
          <a:prstGeom prst="rect">
            <a:avLst/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435025" y="827700"/>
            <a:ext cx="8427000" cy="1146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</a:t>
            </a:r>
            <a:r>
              <a:rPr b="1" i="0" lang="en" sz="1400" u="none" cap="none" strike="noStrike">
                <a:solidFill>
                  <a:schemeClr val="dk1"/>
                </a:solidFill>
              </a:rPr>
              <a:t>Why Linear Regression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?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Simple and easy to interpret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Predicts continuous values like painting cost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Provides a baseline to compare with other models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437606" y="2072315"/>
            <a:ext cx="3831092" cy="110799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6"/>
          <p:cNvSpPr txBox="1"/>
          <p:nvPr/>
        </p:nvSpPr>
        <p:spPr>
          <a:xfrm>
            <a:off x="631333" y="2119175"/>
            <a:ext cx="24737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Prepare the data      </a:t>
            </a:r>
            <a:endParaRPr sz="1100"/>
          </a:p>
        </p:txBody>
      </p:sp>
      <p:sp>
        <p:nvSpPr>
          <p:cNvPr id="240" name="Google Shape;240;p36"/>
          <p:cNvSpPr/>
          <p:nvPr/>
        </p:nvSpPr>
        <p:spPr>
          <a:xfrm flipH="1">
            <a:off x="435013" y="2064739"/>
            <a:ext cx="181022" cy="1115572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750352" y="2354396"/>
            <a:ext cx="3108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Remove </a:t>
            </a:r>
            <a:r>
              <a:rPr lang="en" sz="1200">
                <a:solidFill>
                  <a:schemeClr val="dk1"/>
                </a:solidFill>
              </a:rPr>
              <a:t>irrelevant</a:t>
            </a:r>
            <a:r>
              <a:rPr lang="en" sz="1200">
                <a:solidFill>
                  <a:schemeClr val="dk1"/>
                </a:solidFill>
              </a:rPr>
              <a:t> features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Assign Target column - amount_inr</a:t>
            </a:r>
            <a:endParaRPr sz="1200">
              <a:solidFill>
                <a:schemeClr val="dk1"/>
              </a:solidFill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Drop rows where target is missing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6"/>
          <p:cNvSpPr/>
          <p:nvPr/>
        </p:nvSpPr>
        <p:spPr>
          <a:xfrm>
            <a:off x="4679005" y="2080426"/>
            <a:ext cx="3957954" cy="115337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"/>
          <p:cNvSpPr/>
          <p:nvPr/>
        </p:nvSpPr>
        <p:spPr>
          <a:xfrm>
            <a:off x="2599043" y="3586645"/>
            <a:ext cx="4087449" cy="1212025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6"/>
          <p:cNvSpPr/>
          <p:nvPr/>
        </p:nvSpPr>
        <p:spPr>
          <a:xfrm flipH="1">
            <a:off x="4679004" y="2067232"/>
            <a:ext cx="196299" cy="1166570"/>
          </a:xfrm>
          <a:prstGeom prst="rect">
            <a:avLst/>
          </a:prstGeom>
          <a:solidFill>
            <a:srgbClr val="C0000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6"/>
          <p:cNvSpPr/>
          <p:nvPr/>
        </p:nvSpPr>
        <p:spPr>
          <a:xfrm flipH="1">
            <a:off x="2599043" y="3575652"/>
            <a:ext cx="193142" cy="1212025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4980905" y="2045098"/>
            <a:ext cx="2931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Preprocess features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5100131" y="2281085"/>
            <a:ext cx="2930977" cy="8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 missing values → median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Categorical missing values → most frequent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One-hot encode categorical features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2872807" y="3639111"/>
            <a:ext cx="1706336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Train / test split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2996035" y="3926818"/>
            <a:ext cx="308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7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 training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 testing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random_state = 42 for reproducibility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ctrTitle"/>
          </p:nvPr>
        </p:nvSpPr>
        <p:spPr>
          <a:xfrm flipH="1">
            <a:off x="-4" y="146957"/>
            <a:ext cx="9144001" cy="73478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rPr lang="en" sz="2100"/>
              <a:t>                       </a:t>
            </a:r>
            <a:r>
              <a:rPr b="1" lang="en" sz="3300">
                <a:latin typeface="Arial"/>
                <a:ea typeface="Arial"/>
                <a:cs typeface="Arial"/>
                <a:sym typeface="Arial"/>
              </a:rPr>
              <a:t>Linear Model: Implementation</a:t>
            </a:r>
            <a:br>
              <a:rPr lang="en" sz="2100"/>
            </a:br>
            <a:endParaRPr sz="2100"/>
          </a:p>
        </p:txBody>
      </p:sp>
      <p:sp>
        <p:nvSpPr>
          <p:cNvPr id="256" name="Google Shape;256;p37"/>
          <p:cNvSpPr/>
          <p:nvPr/>
        </p:nvSpPr>
        <p:spPr>
          <a:xfrm>
            <a:off x="155121" y="700496"/>
            <a:ext cx="8752115" cy="34289"/>
          </a:xfrm>
          <a:prstGeom prst="rect">
            <a:avLst/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1175657" y="2416628"/>
            <a:ext cx="1385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215860" y="1036671"/>
            <a:ext cx="2341048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Pipeline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7"/>
          <p:cNvSpPr/>
          <p:nvPr/>
        </p:nvSpPr>
        <p:spPr>
          <a:xfrm>
            <a:off x="363927" y="1749631"/>
            <a:ext cx="1600200" cy="648300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1905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Feature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1964125" y="1852912"/>
            <a:ext cx="819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7"/>
          <p:cNvSpPr/>
          <p:nvPr/>
        </p:nvSpPr>
        <p:spPr>
          <a:xfrm>
            <a:off x="2388970" y="1790879"/>
            <a:ext cx="1600200" cy="648300"/>
          </a:xfrm>
          <a:prstGeom prst="roundRect">
            <a:avLst>
              <a:gd fmla="val 16667" name="adj"/>
            </a:avLst>
          </a:prstGeom>
          <a:solidFill>
            <a:srgbClr val="F2CDED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7"/>
          <p:cNvSpPr/>
          <p:nvPr/>
        </p:nvSpPr>
        <p:spPr>
          <a:xfrm>
            <a:off x="4453425" y="1823055"/>
            <a:ext cx="1681800" cy="6483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7"/>
          <p:cNvSpPr/>
          <p:nvPr/>
        </p:nvSpPr>
        <p:spPr>
          <a:xfrm>
            <a:off x="6599470" y="1823053"/>
            <a:ext cx="1681800" cy="648300"/>
          </a:xfrm>
          <a:prstGeom prst="roundRect">
            <a:avLst>
              <a:gd fmla="val 16667" name="adj"/>
            </a:avLst>
          </a:prstGeom>
          <a:solidFill>
            <a:srgbClr val="C1F0C7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amount_inr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4025047" y="1847115"/>
            <a:ext cx="954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7"/>
          <p:cNvSpPr txBox="1"/>
          <p:nvPr/>
        </p:nvSpPr>
        <p:spPr>
          <a:xfrm>
            <a:off x="6110514" y="1847113"/>
            <a:ext cx="10752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7"/>
          <p:cNvSpPr txBox="1"/>
          <p:nvPr/>
        </p:nvSpPr>
        <p:spPr>
          <a:xfrm>
            <a:off x="246726" y="2754800"/>
            <a:ext cx="378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matrices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7"/>
          <p:cNvSpPr/>
          <p:nvPr/>
        </p:nvSpPr>
        <p:spPr>
          <a:xfrm>
            <a:off x="468628" y="3348293"/>
            <a:ext cx="2315100" cy="14697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7"/>
          <p:cNvSpPr/>
          <p:nvPr/>
        </p:nvSpPr>
        <p:spPr>
          <a:xfrm>
            <a:off x="3137765" y="3316842"/>
            <a:ext cx="2235300" cy="14697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7"/>
          <p:cNvSpPr/>
          <p:nvPr/>
        </p:nvSpPr>
        <p:spPr>
          <a:xfrm>
            <a:off x="5827858" y="3316906"/>
            <a:ext cx="2235300" cy="14697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537006" y="3478427"/>
            <a:ext cx="1871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MAE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91671" y="3782310"/>
            <a:ext cx="2408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absolute difference between actual and predicted costs. Lower MAE indicates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prediction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3181687" y="3412660"/>
            <a:ext cx="187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RMSE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3273554" y="3763116"/>
            <a:ext cx="1963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Measures the difference between actual and predicted values, giving more penalty to larger errors..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5827850" y="3412654"/>
            <a:ext cx="1963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R² Score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5884150" y="3774722"/>
            <a:ext cx="21228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 how well the model explains variations in the target cost. A value closer to 1 indicates a better fit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ctrTitle"/>
          </p:nvPr>
        </p:nvSpPr>
        <p:spPr>
          <a:xfrm flipH="1">
            <a:off x="-4" y="146957"/>
            <a:ext cx="9144001" cy="73478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rPr lang="en" sz="2100"/>
              <a:t> </a:t>
            </a:r>
            <a:r>
              <a:rPr lang="en" sz="3300"/>
              <a:t>              </a:t>
            </a:r>
            <a:r>
              <a:rPr b="1" lang="en" sz="3300">
                <a:latin typeface="Arial"/>
                <a:ea typeface="Arial"/>
                <a:cs typeface="Arial"/>
                <a:sym typeface="Arial"/>
              </a:rPr>
              <a:t>Linear Model: Evaluation Result</a:t>
            </a: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 sz="2100"/>
            </a:br>
            <a:endParaRPr sz="2100"/>
          </a:p>
        </p:txBody>
      </p:sp>
      <p:sp>
        <p:nvSpPr>
          <p:cNvPr id="282" name="Google Shape;282;p38"/>
          <p:cNvSpPr/>
          <p:nvPr/>
        </p:nvSpPr>
        <p:spPr>
          <a:xfrm>
            <a:off x="155121" y="700496"/>
            <a:ext cx="8752115" cy="34289"/>
          </a:xfrm>
          <a:prstGeom prst="rect">
            <a:avLst/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1175657" y="2416628"/>
            <a:ext cx="1385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1941305" y="1900674"/>
            <a:ext cx="464192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3893191" y="1911616"/>
            <a:ext cx="506186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5937230" y="1900674"/>
            <a:ext cx="138548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Google Shape;287;p38"/>
          <p:cNvGraphicFramePr/>
          <p:nvPr/>
        </p:nvGraphicFramePr>
        <p:xfrm>
          <a:off x="155121" y="150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{8DD880F3-B267-4A19-8CC4-8528E6AE9A93}</a:tableStyleId>
              </a:tblPr>
              <a:tblGrid>
                <a:gridCol w="3789000"/>
                <a:gridCol w="3946925"/>
              </a:tblGrid>
              <a:tr h="63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matrices</a:t>
                      </a:r>
                      <a:endParaRPr b="1"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Linear Regression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54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MAE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4,556,166</a:t>
                      </a:r>
                      <a:endParaRPr b="1">
                        <a:solidFill>
                          <a:srgbClr val="2D374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/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RMSE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</a:t>
                      </a:r>
                      <a:r>
                        <a:rPr b="1" lang="en"/>
                        <a:t>7,446,062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R² score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                  0.9441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288" name="Google Shape;288;p38"/>
          <p:cNvSpPr txBox="1"/>
          <p:nvPr/>
        </p:nvSpPr>
        <p:spPr>
          <a:xfrm>
            <a:off x="161303" y="947888"/>
            <a:ext cx="4024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/>
          <p:nvPr/>
        </p:nvSpPr>
        <p:spPr>
          <a:xfrm>
            <a:off x="609600" y="1697355"/>
            <a:ext cx="81625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A14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85A14"/>
                </a:solidFill>
                <a:latin typeface="Arial"/>
                <a:ea typeface="Arial"/>
                <a:cs typeface="Arial"/>
                <a:sym typeface="Arial"/>
              </a:rPr>
              <a:t>MACHINE LEARNING PROJECT · MODEL EVALUATION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/>
          <p:nvPr>
            <p:ph type="title"/>
          </p:nvPr>
        </p:nvSpPr>
        <p:spPr>
          <a:xfrm>
            <a:off x="609600" y="2112645"/>
            <a:ext cx="81625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4200"/>
              <a:buFont typeface="Georgia"/>
              <a:buNone/>
            </a:pPr>
            <a:r>
              <a:rPr b="0" i="0" lang="en" sz="4200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rPr>
              <a:t>Decision Tree Regressor</a:t>
            </a:r>
            <a:endParaRPr sz="4200"/>
          </a:p>
        </p:txBody>
      </p:sp>
      <p:sp>
        <p:nvSpPr>
          <p:cNvPr id="296" name="Google Shape;296;p39"/>
          <p:cNvSpPr/>
          <p:nvPr/>
        </p:nvSpPr>
        <p:spPr>
          <a:xfrm>
            <a:off x="609600" y="2901315"/>
            <a:ext cx="6376988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672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5B6672"/>
                </a:solidFill>
                <a:latin typeface="Arial"/>
                <a:ea typeface="Arial"/>
                <a:cs typeface="Arial"/>
                <a:sym typeface="Arial"/>
              </a:rPr>
              <a:t>Implementation and evaluation for painting cost (amount in INR) prediction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type="title"/>
          </p:nvPr>
        </p:nvSpPr>
        <p:spPr>
          <a:xfrm>
            <a:off x="609600" y="609600"/>
            <a:ext cx="81625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700"/>
              <a:buFont typeface="Georgia"/>
              <a:buNone/>
            </a:pPr>
            <a:r>
              <a:rPr b="0" i="0" lang="en" sz="2700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rPr>
              <a:t>Effect of tree depth</a:t>
            </a:r>
            <a:endParaRPr sz="2700"/>
          </a:p>
        </p:txBody>
      </p:sp>
      <p:pic>
        <p:nvPicPr>
          <p:cNvPr descr="depth plot" id="303" name="Google Shape;3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15391"/>
            <a:ext cx="47625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/>
          <p:nvPr/>
        </p:nvSpPr>
        <p:spPr>
          <a:xfrm>
            <a:off x="5603081" y="2006441"/>
            <a:ext cx="2928938" cy="1465897"/>
          </a:xfrm>
          <a:prstGeom prst="roundRect">
            <a:avLst>
              <a:gd fmla="val 5036" name="adj"/>
            </a:avLst>
          </a:prstGeom>
          <a:solidFill>
            <a:srgbClr val="F3F5F7"/>
          </a:solidFill>
          <a:ln cap="flat" cmpd="sng" w="9525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0"/>
          <p:cNvSpPr/>
          <p:nvPr/>
        </p:nvSpPr>
        <p:spPr>
          <a:xfrm>
            <a:off x="5795010" y="2198373"/>
            <a:ext cx="2621432" cy="20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Depth 8 is reasonable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5795010" y="2457450"/>
            <a:ext cx="2621432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Train R² keeps rising with depth while test R² levels off near 0.92 from depth 4.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0"/>
          <p:cNvSpPr/>
          <p:nvPr/>
        </p:nvSpPr>
        <p:spPr>
          <a:xfrm>
            <a:off x="5795010" y="2907031"/>
            <a:ext cx="2621432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On this split deeper trees reach 0.93, but gains are small and overfitting grows.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609600" y="4678682"/>
            <a:ext cx="588645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B6672"/>
                </a:solidFill>
                <a:latin typeface="Arial"/>
                <a:ea typeface="Arial"/>
                <a:cs typeface="Arial"/>
                <a:sym typeface="Arial"/>
              </a:rPr>
              <a:t>Decision Tree Regressor · Painting cost estimation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609600" y="609600"/>
            <a:ext cx="81625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700"/>
              <a:buFont typeface="Georgia"/>
              <a:buNone/>
            </a:pPr>
            <a:r>
              <a:rPr b="0" i="0" lang="en" sz="2700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rPr>
              <a:t>Generalization check</a:t>
            </a:r>
            <a:endParaRPr sz="2700"/>
          </a:p>
        </p:txBody>
      </p:sp>
      <p:pic>
        <p:nvPicPr>
          <p:cNvPr descr="cv plot" id="315" name="Google Shape;3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15391"/>
            <a:ext cx="4762500" cy="304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41"/>
          <p:cNvGraphicFramePr/>
          <p:nvPr/>
        </p:nvGraphicFramePr>
        <p:xfrm>
          <a:off x="5608320" y="1390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{F8EE354C-3E2A-4422-89BC-CC35F2F1C3C6}</a:tableStyleId>
              </a:tblPr>
              <a:tblGrid>
                <a:gridCol w="975350"/>
                <a:gridCol w="975350"/>
                <a:gridCol w="975350"/>
              </a:tblGrid>
              <a:tr h="3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R²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₹2.06M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₹4.69M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₹3.65M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A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₹8.33M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41"/>
          <p:cNvSpPr/>
          <p:nvPr/>
        </p:nvSpPr>
        <p:spPr>
          <a:xfrm>
            <a:off x="5603081" y="3077054"/>
            <a:ext cx="2928938" cy="1016318"/>
          </a:xfrm>
          <a:prstGeom prst="roundRect">
            <a:avLst>
              <a:gd fmla="val 7263" name="adj"/>
            </a:avLst>
          </a:prstGeom>
          <a:solidFill>
            <a:srgbClr val="F3F5F7"/>
          </a:solidFill>
          <a:ln cap="flat" cmpd="sng" w="9525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1"/>
          <p:cNvSpPr/>
          <p:nvPr/>
        </p:nvSpPr>
        <p:spPr>
          <a:xfrm>
            <a:off x="5795010" y="3268981"/>
            <a:ext cx="2621432" cy="20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5-fold CV R²: 0.915 ± 0.007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/>
          <p:nvPr/>
        </p:nvSpPr>
        <p:spPr>
          <a:xfrm>
            <a:off x="5795010" y="3528059"/>
            <a:ext cx="2621432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Stable across folds, so the test score is not a lucky split.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1"/>
          <p:cNvSpPr/>
          <p:nvPr/>
        </p:nvSpPr>
        <p:spPr>
          <a:xfrm>
            <a:off x="609600" y="4678682"/>
            <a:ext cx="588645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B6672"/>
                </a:solidFill>
                <a:latin typeface="Arial"/>
                <a:ea typeface="Arial"/>
                <a:cs typeface="Arial"/>
                <a:sym typeface="Arial"/>
              </a:rPr>
              <a:t>Decision Tree Regressor · Painting cost estimation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609600" y="609600"/>
            <a:ext cx="81625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700"/>
              <a:buFont typeface="Georgia"/>
              <a:buNone/>
            </a:pPr>
            <a:r>
              <a:rPr b="0" i="0" lang="en" sz="2700">
                <a:solidFill>
                  <a:srgbClr val="1B2A3A"/>
                </a:solidFill>
                <a:latin typeface="Georgia"/>
                <a:ea typeface="Georgia"/>
                <a:cs typeface="Georgia"/>
                <a:sym typeface="Georgia"/>
              </a:rPr>
              <a:t>Error by building type</a:t>
            </a:r>
            <a:endParaRPr sz="2700"/>
          </a:p>
        </p:txBody>
      </p:sp>
      <p:pic>
        <p:nvPicPr>
          <p:cNvPr descr="bt plot" id="327" name="Google Shape;327;p42"/>
          <p:cNvPicPr preferRelativeResize="0"/>
          <p:nvPr/>
        </p:nvPicPr>
        <p:blipFill rotWithShape="1">
          <a:blip r:embed="rId3">
            <a:alphaModFix/>
          </a:blip>
          <a:srcRect b="0" l="-42" r="-42" t="0"/>
          <a:stretch/>
        </p:blipFill>
        <p:spPr>
          <a:xfrm>
            <a:off x="609600" y="1215391"/>
            <a:ext cx="4762500" cy="259556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2"/>
          <p:cNvSpPr/>
          <p:nvPr/>
        </p:nvSpPr>
        <p:spPr>
          <a:xfrm>
            <a:off x="5603081" y="1780222"/>
            <a:ext cx="2928938" cy="1465897"/>
          </a:xfrm>
          <a:prstGeom prst="roundRect">
            <a:avLst>
              <a:gd fmla="val 5036" name="adj"/>
            </a:avLst>
          </a:prstGeom>
          <a:solidFill>
            <a:srgbClr val="F3F5F7"/>
          </a:solidFill>
          <a:ln cap="flat" cmpd="sng" w="9525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>
            <a:off x="5795010" y="1972154"/>
            <a:ext cx="2621432" cy="20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Larger projects, larger errors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2"/>
          <p:cNvSpPr/>
          <p:nvPr/>
        </p:nvSpPr>
        <p:spPr>
          <a:xfrm>
            <a:off x="5795010" y="2231231"/>
            <a:ext cx="2621432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Retail / Mall has the highest MAE (₹9.5M); Independent House the lowest.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2"/>
          <p:cNvSpPr/>
          <p:nvPr/>
        </p:nvSpPr>
        <p:spPr>
          <a:xfrm>
            <a:off x="5795010" y="2680813"/>
            <a:ext cx="2621432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Errors scale with project size, in line with the quantity-driven model.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2"/>
          <p:cNvSpPr/>
          <p:nvPr/>
        </p:nvSpPr>
        <p:spPr>
          <a:xfrm>
            <a:off x="609600" y="4678682"/>
            <a:ext cx="588645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67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B6672"/>
                </a:solidFill>
                <a:latin typeface="Arial"/>
                <a:ea typeface="Arial"/>
                <a:cs typeface="Arial"/>
                <a:sym typeface="Arial"/>
              </a:rPr>
              <a:t>Decision Tree Regressor · Painting cost estimation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idx="4294967295" type="ctrTitle"/>
          </p:nvPr>
        </p:nvSpPr>
        <p:spPr>
          <a:xfrm flipH="1">
            <a:off x="-3" y="149257"/>
            <a:ext cx="91440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rPr lang="en" sz="2100"/>
              <a:t>                         </a:t>
            </a:r>
            <a:r>
              <a:rPr b="1" lang="en" sz="3300"/>
              <a:t>SVR Model: Implementation</a:t>
            </a:r>
            <a:br>
              <a:rPr lang="en" sz="2100"/>
            </a:br>
            <a:endParaRPr sz="2100"/>
          </a:p>
        </p:txBody>
      </p:sp>
      <p:sp>
        <p:nvSpPr>
          <p:cNvPr id="338" name="Google Shape;338;p43"/>
          <p:cNvSpPr/>
          <p:nvPr/>
        </p:nvSpPr>
        <p:spPr>
          <a:xfrm>
            <a:off x="236764" y="700496"/>
            <a:ext cx="8684700" cy="34200"/>
          </a:xfrm>
          <a:prstGeom prst="rect">
            <a:avLst/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435025" y="827700"/>
            <a:ext cx="8427000" cy="9312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</a:t>
            </a:r>
            <a:r>
              <a:rPr b="1" i="0" lang="en" sz="1400" u="none" cap="none" strike="noStrike">
                <a:solidFill>
                  <a:schemeClr val="dk1"/>
                </a:solidFill>
              </a:rPr>
              <a:t>Why </a:t>
            </a:r>
            <a:r>
              <a:rPr b="1" lang="en">
                <a:solidFill>
                  <a:schemeClr val="dk1"/>
                </a:solidFill>
              </a:rPr>
              <a:t>Support Vector</a:t>
            </a:r>
            <a:r>
              <a:rPr b="1" i="0" lang="en" sz="1400" u="none" cap="none" strike="noStrike">
                <a:solidFill>
                  <a:schemeClr val="dk1"/>
                </a:solidFill>
              </a:rPr>
              <a:t> Regression</a:t>
            </a: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?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VR is a regression method that learns a function with a margin ( epsilon-tube) around predictions. With an RBF kernel, it can model non-linear relationships between project features and painting cost. </a:t>
            </a:r>
            <a:endParaRPr sz="11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3"/>
          <p:cNvSpPr/>
          <p:nvPr/>
        </p:nvSpPr>
        <p:spPr>
          <a:xfrm>
            <a:off x="437606" y="2072315"/>
            <a:ext cx="3831000" cy="1107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631333" y="2119175"/>
            <a:ext cx="247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 Prepare the data      </a:t>
            </a:r>
            <a:endParaRPr sz="1100"/>
          </a:p>
        </p:txBody>
      </p:sp>
      <p:sp>
        <p:nvSpPr>
          <p:cNvPr id="342" name="Google Shape;342;p43"/>
          <p:cNvSpPr/>
          <p:nvPr/>
        </p:nvSpPr>
        <p:spPr>
          <a:xfrm flipH="1">
            <a:off x="435135" y="2064739"/>
            <a:ext cx="180900" cy="1115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750350" y="2354400"/>
            <a:ext cx="3450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Dataset: painting-related BOQ records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Inputs : items,quantity(sqm),building type</a:t>
            </a:r>
            <a:r>
              <a:rPr lang="en" sz="1200">
                <a:solidFill>
                  <a:schemeClr val="dk1"/>
                </a:solidFill>
              </a:rPr>
              <a:t>s</a:t>
            </a:r>
            <a:endParaRPr sz="1200">
              <a:solidFill>
                <a:schemeClr val="dk1"/>
              </a:solidFill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Target: amount_inr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4679005" y="2080426"/>
            <a:ext cx="3957900" cy="1153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2599043" y="3586645"/>
            <a:ext cx="4087500" cy="1212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3"/>
          <p:cNvSpPr/>
          <p:nvPr/>
        </p:nvSpPr>
        <p:spPr>
          <a:xfrm flipH="1">
            <a:off x="4679103" y="2067232"/>
            <a:ext cx="196200" cy="1166700"/>
          </a:xfrm>
          <a:prstGeom prst="rect">
            <a:avLst/>
          </a:prstGeom>
          <a:solidFill>
            <a:srgbClr val="C0000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/>
          <p:nvPr/>
        </p:nvSpPr>
        <p:spPr>
          <a:xfrm flipH="1">
            <a:off x="2598985" y="3575652"/>
            <a:ext cx="193200" cy="12120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3"/>
          <p:cNvSpPr txBox="1"/>
          <p:nvPr/>
        </p:nvSpPr>
        <p:spPr>
          <a:xfrm>
            <a:off x="4980905" y="2045098"/>
            <a:ext cx="2931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Preprocess</a:t>
            </a:r>
            <a:r>
              <a:rPr b="1" lang="en">
                <a:solidFill>
                  <a:schemeClr val="dk1"/>
                </a:solidFill>
              </a:rPr>
              <a:t> and train SVR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3"/>
          <p:cNvSpPr txBox="1"/>
          <p:nvPr/>
        </p:nvSpPr>
        <p:spPr>
          <a:xfrm>
            <a:off x="5100124" y="2273138"/>
            <a:ext cx="34836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Encode categorical fields: scale numeric features</a:t>
            </a:r>
            <a:endParaRPr sz="1200">
              <a:solidFill>
                <a:schemeClr val="dk1"/>
              </a:solidFill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Fit a preprocessing + SVR pipeline</a:t>
            </a:r>
            <a:endParaRPr sz="1200">
              <a:solidFill>
                <a:schemeClr val="dk1"/>
              </a:solidFill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>
                <a:solidFill>
                  <a:schemeClr val="dk1"/>
                </a:solidFill>
              </a:rPr>
              <a:t>Start with the RBF kernel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50" name="Google Shape;350;p43"/>
          <p:cNvSpPr txBox="1"/>
          <p:nvPr/>
        </p:nvSpPr>
        <p:spPr>
          <a:xfrm>
            <a:off x="2872807" y="3639111"/>
            <a:ext cx="1706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Train / test split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2996035" y="3926818"/>
            <a:ext cx="30861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7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 training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0% testing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idx="4294967295" type="ctrTitle"/>
          </p:nvPr>
        </p:nvSpPr>
        <p:spPr>
          <a:xfrm flipH="1">
            <a:off x="-3" y="146957"/>
            <a:ext cx="91440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rPr lang="en" sz="2100"/>
              <a:t>                        </a:t>
            </a:r>
            <a:r>
              <a:rPr b="1" lang="en" sz="3300"/>
              <a:t>SVR Model: Evaluation Result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 sz="2100"/>
            </a:br>
            <a:endParaRPr sz="2100"/>
          </a:p>
        </p:txBody>
      </p:sp>
      <p:sp>
        <p:nvSpPr>
          <p:cNvPr id="357" name="Google Shape;357;p44"/>
          <p:cNvSpPr/>
          <p:nvPr/>
        </p:nvSpPr>
        <p:spPr>
          <a:xfrm>
            <a:off x="155121" y="700496"/>
            <a:ext cx="8752200" cy="34200"/>
          </a:xfrm>
          <a:prstGeom prst="rect">
            <a:avLst/>
          </a:prstGeom>
          <a:solidFill>
            <a:srgbClr val="BFBFB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1175657" y="2416628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1941305" y="1900674"/>
            <a:ext cx="464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4"/>
          <p:cNvSpPr txBox="1"/>
          <p:nvPr/>
        </p:nvSpPr>
        <p:spPr>
          <a:xfrm>
            <a:off x="3893191" y="1911616"/>
            <a:ext cx="5061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5937230" y="1900674"/>
            <a:ext cx="138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" name="Google Shape;362;p44"/>
          <p:cNvGraphicFramePr/>
          <p:nvPr/>
        </p:nvGraphicFramePr>
        <p:xfrm>
          <a:off x="155121" y="150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{8DD880F3-B267-4A19-8CC4-8528E6AE9A93}</a:tableStyleId>
              </a:tblPr>
              <a:tblGrid>
                <a:gridCol w="3789000"/>
                <a:gridCol w="3946925"/>
              </a:tblGrid>
              <a:tr h="63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matrices</a:t>
                      </a:r>
                      <a:endParaRPr b="1"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 Vector Regression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54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MAE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3228138</a:t>
                      </a:r>
                      <a:endParaRPr b="1">
                        <a:solidFill>
                          <a:srgbClr val="2D374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/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RMSE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</a:t>
                      </a:r>
                      <a:r>
                        <a:rPr b="1" lang="en"/>
                        <a:t>5511005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R² score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                  0.9636</a:t>
                      </a:r>
                      <a:endParaRPr b="1"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363" name="Google Shape;363;p44"/>
          <p:cNvSpPr txBox="1"/>
          <p:nvPr/>
        </p:nvSpPr>
        <p:spPr>
          <a:xfrm>
            <a:off x="161303" y="947888"/>
            <a:ext cx="4024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idx="1" type="subTitle"/>
          </p:nvPr>
        </p:nvSpPr>
        <p:spPr>
          <a:xfrm>
            <a:off x="204275" y="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3200">
                <a:solidFill>
                  <a:srgbClr val="1F3044"/>
                </a:solidFill>
              </a:rPr>
              <a:t>         Actual vs. Predicted Painting Costs</a:t>
            </a:r>
            <a:endParaRPr b="1" sz="132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361"/>
              <a:buFont typeface="Arial"/>
              <a:buNone/>
            </a:pPr>
            <a:r>
              <a:t/>
            </a:r>
            <a:endParaRPr b="1" sz="2944">
              <a:solidFill>
                <a:srgbClr val="1224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69" name="Google Shape;369;p45"/>
          <p:cNvSpPr txBox="1"/>
          <p:nvPr/>
        </p:nvSpPr>
        <p:spPr>
          <a:xfrm>
            <a:off x="4739625" y="1008275"/>
            <a:ext cx="3908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A34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4572000" y="2253150"/>
            <a:ext cx="36942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1D9B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4739625" y="2571750"/>
            <a:ext cx="40626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rgbClr val="2A344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855275" y="3908100"/>
            <a:ext cx="78696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1224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3" name="Google Shape;373;p45" title="WhatsApp Image 2026-10-24 at 20.25.1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3022"/>
            <a:ext cx="9144000" cy="295465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/>
        </p:nvSpPr>
        <p:spPr>
          <a:xfrm>
            <a:off x="435900" y="4086275"/>
            <a:ext cx="85206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3044"/>
                </a:solidFill>
              </a:rPr>
              <a:t>The dashed diagonal represents perfect predictions. Points closer to the line indicate smaller prediction errors.</a:t>
            </a:r>
            <a:endParaRPr sz="11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A6572"/>
                </a:solidFill>
              </a:rPr>
              <a:t>                  </a:t>
            </a:r>
            <a:r>
              <a:rPr lang="en" sz="1150">
                <a:solidFill>
                  <a:srgbClr val="5A6572"/>
                </a:solidFill>
              </a:rPr>
              <a:t> </a:t>
            </a:r>
            <a:r>
              <a:rPr lang="en" sz="1050">
                <a:solidFill>
                  <a:srgbClr val="5A6572"/>
                </a:solidFill>
              </a:rPr>
              <a:t>Linear Regression and SVM appear closer to the reference line overall; Decision Tree has more visible deviations, especially for                 higher-cost samples</a:t>
            </a:r>
            <a:endParaRPr sz="10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>
            <p:ph type="title"/>
          </p:nvPr>
        </p:nvSpPr>
        <p:spPr>
          <a:xfrm>
            <a:off x="0" y="7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909"/>
              <a:buFont typeface="Arial"/>
              <a:buNone/>
            </a:pPr>
            <a:r>
              <a:rPr b="1" lang="en" sz="3678">
                <a:solidFill>
                  <a:srgbClr val="1F3044"/>
                </a:solidFill>
              </a:rPr>
              <a:t>          Energy Consumption Comparison</a:t>
            </a:r>
            <a:endParaRPr b="1" sz="3678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411"/>
              <a:buFont typeface="Arial"/>
              <a:buNone/>
            </a:pPr>
            <a:r>
              <a:t/>
            </a:r>
            <a:endParaRPr b="1" sz="2272">
              <a:solidFill>
                <a:srgbClr val="1224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6"/>
          <p:cNvSpPr txBox="1"/>
          <p:nvPr/>
        </p:nvSpPr>
        <p:spPr>
          <a:xfrm>
            <a:off x="427625" y="4310975"/>
            <a:ext cx="84459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3044"/>
                </a:solidFill>
              </a:rPr>
              <a:t>This chart compares energy used during training and test prediction. Lower energy consumption is preferable when model performance is comparable.</a:t>
            </a:r>
            <a:endParaRPr sz="10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A6572"/>
                </a:solidFill>
              </a:rPr>
              <a:t>       </a:t>
            </a:r>
            <a:r>
              <a:rPr lang="en" sz="950">
                <a:solidFill>
                  <a:srgbClr val="5A6572"/>
                </a:solidFill>
              </a:rPr>
              <a:t>Linear Regression uses 0.2136 J, Decision Tree 0.2546 J, and SVM 0.2732 J. Linear Regression has the lowest reported energy use in this plot.</a:t>
            </a:r>
            <a:endParaRPr sz="9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81" name="Google Shape;381;p46" title="WhatsApp Image 2026-10-24 at 20.25.17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775" y="727375"/>
            <a:ext cx="4834448" cy="329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>
            <p:ph type="title"/>
          </p:nvPr>
        </p:nvSpPr>
        <p:spPr>
          <a:xfrm>
            <a:off x="152400" y="155550"/>
            <a:ext cx="88392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137"/>
              <a:buFont typeface="Arial"/>
              <a:buNone/>
            </a:pPr>
            <a:r>
              <a:rPr b="1" lang="en" sz="3650">
                <a:solidFill>
                  <a:srgbClr val="1F3044"/>
                </a:solidFill>
              </a:rPr>
              <a:t>     Residuals vs. Predicted Painting Costs</a:t>
            </a:r>
            <a:endParaRPr b="1" sz="365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387" name="Google Shape;387;p47" title="WhatsApp Image 2026-10-24 at 20.25.1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9375"/>
            <a:ext cx="8839200" cy="285616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/>
        </p:nvSpPr>
        <p:spPr>
          <a:xfrm>
            <a:off x="570175" y="4098175"/>
            <a:ext cx="83271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3044"/>
                </a:solidFill>
              </a:rPr>
              <a:t>Residual = actual cost − predicted cost. The dashed horizontal line marks zero error; residuals around zero indicate closer predictions.</a:t>
            </a:r>
            <a:endParaRPr sz="10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rgbClr val="5A6572"/>
                </a:solidFill>
              </a:rPr>
              <a:t>    The spread grows for higher predicted costs, and Decision Tree shows several larger residuals. This suggests high-cost cases are harder to    estimate consistently</a:t>
            </a:r>
            <a:endParaRPr sz="9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type="title"/>
          </p:nvPr>
        </p:nvSpPr>
        <p:spPr>
          <a:xfrm>
            <a:off x="86100" y="156650"/>
            <a:ext cx="88704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909"/>
              <a:buFont typeface="Arial"/>
              <a:buNone/>
            </a:pPr>
            <a:r>
              <a:rPr b="1" lang="en" sz="3678">
                <a:solidFill>
                  <a:srgbClr val="1F3044"/>
                </a:solidFill>
              </a:rPr>
              <a:t>      Test Error Comparison: MAE and RMSE</a:t>
            </a:r>
            <a:endParaRPr b="1" sz="3678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411"/>
              <a:buFont typeface="Arial"/>
              <a:buNone/>
            </a:pPr>
            <a:r>
              <a:t/>
            </a:r>
            <a:endParaRPr b="1" sz="2272">
              <a:solidFill>
                <a:srgbClr val="1224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48" title="WhatsApp Image 2026-10-24 at 20.25.18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25" y="776325"/>
            <a:ext cx="5758300" cy="348019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8"/>
          <p:cNvSpPr txBox="1"/>
          <p:nvPr/>
        </p:nvSpPr>
        <p:spPr>
          <a:xfrm>
            <a:off x="700850" y="4303500"/>
            <a:ext cx="82557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F3044"/>
                </a:solidFill>
              </a:rPr>
              <a:t>MAE is the average absolute prediction error; RMSE penalizes larger errors more strongly. Lower values indicate better performance.</a:t>
            </a:r>
            <a:endParaRPr sz="9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A6572"/>
                </a:solidFill>
              </a:rPr>
              <a:t>Linear Regression and SVM have similar errors (MAE ≈ 32.5 and RMSE ≈ 55), while Decision Tree has higher errors (MAE 52.27, RMSE 102.54). Linear Regression has the lowest MAE; SVM has a marginally lower RMSE</a:t>
            </a:r>
            <a:endParaRPr sz="850">
              <a:solidFill>
                <a:srgbClr val="5A657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9"/>
          <p:cNvSpPr txBox="1"/>
          <p:nvPr>
            <p:ph type="title"/>
          </p:nvPr>
        </p:nvSpPr>
        <p:spPr>
          <a:xfrm>
            <a:off x="86100" y="156650"/>
            <a:ext cx="88704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909"/>
              <a:buFont typeface="Arial"/>
              <a:buNone/>
            </a:pPr>
            <a:r>
              <a:rPr b="1" lang="en" sz="3678">
                <a:solidFill>
                  <a:srgbClr val="1F3044"/>
                </a:solidFill>
              </a:rPr>
              <a:t>      R</a:t>
            </a:r>
            <a:r>
              <a:rPr b="1" baseline="30000" lang="en" sz="3678">
                <a:solidFill>
                  <a:srgbClr val="1F3044"/>
                </a:solidFill>
              </a:rPr>
              <a:t>2</a:t>
            </a:r>
            <a:r>
              <a:rPr b="1" lang="en" sz="3678">
                <a:solidFill>
                  <a:srgbClr val="1F3044"/>
                </a:solidFill>
              </a:rPr>
              <a:t> Score Comparison</a:t>
            </a:r>
            <a:endParaRPr b="1" sz="3678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411"/>
              <a:buFont typeface="Arial"/>
              <a:buNone/>
            </a:pPr>
            <a:r>
              <a:t/>
            </a:r>
            <a:endParaRPr b="1" sz="2272">
              <a:solidFill>
                <a:srgbClr val="1224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9"/>
          <p:cNvSpPr txBox="1"/>
          <p:nvPr/>
        </p:nvSpPr>
        <p:spPr>
          <a:xfrm>
            <a:off x="700850" y="4303500"/>
            <a:ext cx="82557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F3044"/>
                </a:solidFill>
              </a:rPr>
              <a:t>R² score measures how well a model explains the variation in the target variable; values closer to 1 indicate better performance.</a:t>
            </a:r>
            <a:endParaRPr sz="900">
              <a:solidFill>
                <a:srgbClr val="1F30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F3044"/>
                </a:solidFill>
              </a:rPr>
              <a:t>SVM (0.9640) and Linear Regression (0.9636) perform almost identically, while Decision Tree has a lower R² score (0.8753). SVM achieves the highest R² score, marginally outperforming Linear Regression.</a:t>
            </a:r>
            <a:endParaRPr sz="900">
              <a:solidFill>
                <a:srgbClr val="1F3044"/>
              </a:solidFill>
            </a:endParaRPr>
          </a:p>
        </p:txBody>
      </p:sp>
      <p:pic>
        <p:nvPicPr>
          <p:cNvPr id="402" name="Google Shape;402;p49" title="R2_Scor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413" y="847250"/>
            <a:ext cx="5197176" cy="322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0"/>
          <p:cNvSpPr/>
          <p:nvPr/>
        </p:nvSpPr>
        <p:spPr>
          <a:xfrm>
            <a:off x="5709733" y="1101149"/>
            <a:ext cx="25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Questions?</a:t>
            </a:r>
            <a:endParaRPr sz="1100"/>
          </a:p>
        </p:txBody>
      </p:sp>
      <p:cxnSp>
        <p:nvCxnSpPr>
          <p:cNvPr id="409" name="Google Shape;409;p50"/>
          <p:cNvCxnSpPr/>
          <p:nvPr/>
        </p:nvCxnSpPr>
        <p:spPr>
          <a:xfrm>
            <a:off x="-15949" y="664818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0" name="Google Shape;410;p50"/>
          <p:cNvSpPr/>
          <p:nvPr/>
        </p:nvSpPr>
        <p:spPr>
          <a:xfrm>
            <a:off x="456396" y="198741"/>
            <a:ext cx="5001429" cy="44934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0"/>
          <p:cNvSpPr txBox="1"/>
          <p:nvPr/>
        </p:nvSpPr>
        <p:spPr>
          <a:xfrm>
            <a:off x="-15949" y="81563"/>
            <a:ext cx="9257735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/>
          </a:p>
        </p:txBody>
      </p:sp>
      <p:cxnSp>
        <p:nvCxnSpPr>
          <p:cNvPr id="412" name="Google Shape;412;p50"/>
          <p:cNvCxnSpPr/>
          <p:nvPr/>
        </p:nvCxnSpPr>
        <p:spPr>
          <a:xfrm>
            <a:off x="4464582" y="690619"/>
            <a:ext cx="34200" cy="393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413" name="Google Shape;413;p50"/>
          <p:cNvSpPr txBox="1"/>
          <p:nvPr/>
        </p:nvSpPr>
        <p:spPr>
          <a:xfrm>
            <a:off x="408975" y="961750"/>
            <a:ext cx="40029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30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Score: &gt; 0.9</a:t>
            </a:r>
            <a:r>
              <a:rPr b="1" lang="en">
                <a:solidFill>
                  <a:schemeClr val="dk1"/>
                </a:solidFill>
              </a:rPr>
              <a:t>6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</a:t>
            </a:r>
            <a:r>
              <a:rPr b="1" lang="en">
                <a:solidFill>
                  <a:schemeClr val="dk1"/>
                </a:solidFill>
              </a:rPr>
              <a:t>with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 friendly U</a:t>
            </a:r>
            <a:r>
              <a:rPr b="1" lang="en">
                <a:solidFill>
                  <a:schemeClr val="dk1"/>
                </a:solidFill>
              </a:rPr>
              <a:t>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0"/>
          <p:cNvSpPr txBox="1"/>
          <p:nvPr/>
        </p:nvSpPr>
        <p:spPr>
          <a:xfrm>
            <a:off x="4611208" y="674702"/>
            <a:ext cx="484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https://github.com/Goutam363/painting-cost-prediction</a:t>
            </a:r>
            <a:endParaRPr b="0" i="0" sz="900">
              <a:solidFill>
                <a:srgbClr val="56536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50"/>
          <p:cNvSpPr/>
          <p:nvPr/>
        </p:nvSpPr>
        <p:spPr>
          <a:xfrm>
            <a:off x="408975" y="2886950"/>
            <a:ext cx="35487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cxnSp>
        <p:nvCxnSpPr>
          <p:cNvPr id="416" name="Google Shape;416;p50"/>
          <p:cNvCxnSpPr/>
          <p:nvPr/>
        </p:nvCxnSpPr>
        <p:spPr>
          <a:xfrm>
            <a:off x="0" y="464376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7" name="Google Shape;417;p50"/>
          <p:cNvSpPr txBox="1"/>
          <p:nvPr/>
        </p:nvSpPr>
        <p:spPr>
          <a:xfrm>
            <a:off x="4611208" y="1401231"/>
            <a:ext cx="484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Deployed App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https://painting-cost-prediction.streamlit.app/</a:t>
            </a:r>
            <a:endParaRPr b="0" i="0" sz="900">
              <a:solidFill>
                <a:srgbClr val="56536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8" name="Google Shape;41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4636" y="2212218"/>
            <a:ext cx="2129530" cy="212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ision Tree Model: Implementation &amp; Evaluation">
  <a:themeElements>
    <a:clrScheme name="Decision Tree Model: Implementation &amp; Evaluation">
      <a:dk1>
        <a:srgbClr val="1B2A3A"/>
      </a:dk1>
      <a:lt1>
        <a:srgbClr val="FFFFFF"/>
      </a:lt1>
      <a:dk2>
        <a:srgbClr val="545F6B"/>
      </a:dk2>
      <a:lt2>
        <a:srgbClr val="E8EAEB"/>
      </a:lt2>
      <a:accent1>
        <a:srgbClr val="B85A14"/>
      </a:accent1>
      <a:accent2>
        <a:srgbClr val="5B6672"/>
      </a:accent2>
      <a:accent3>
        <a:srgbClr val="9AA0A6"/>
      </a:accent3>
      <a:accent4>
        <a:srgbClr val="767F89"/>
      </a:accent4>
      <a:accent5>
        <a:srgbClr val="989FA6"/>
      </a:accent5>
      <a:accent6>
        <a:srgbClr val="BBBFC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