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5"/>
    <p:sldMasterId id="2147483674" r:id="rId6"/>
    <p:sldMasterId id="2147483675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</p:sldIdLst>
  <p:sldSz cy="5143500" cx="9144000"/>
  <p:notesSz cx="6858000" cy="9144000"/>
  <p:embeddedFontLst>
    <p:embeddedFont>
      <p:font typeface="IBM Plex Sans"/>
      <p:regular r:id="rId32"/>
      <p:bold r:id="rId33"/>
      <p:italic r:id="rId34"/>
      <p:boldItalic r:id="rId35"/>
    </p:embeddedFont>
    <p:embeddedFont>
      <p:font typeface="Play"/>
      <p:regular r:id="rId36"/>
      <p:bold r:id="rId37"/>
    </p:embeddedFont>
    <p:embeddedFont>
      <p:font typeface="DM Sa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77CFA1-0BE8-4A10-A344-8AC451ACEC89}">
  <a:tblStyle styleId="{B177CFA1-0BE8-4A10-A344-8AC451ACEC8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3BC0AAAB-1D53-4040-A699-5D96CEA510C0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CF0F31A1-41D4-4AAF-B530-283CD640ACAE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DMSans-italic.fntdata"/><Relationship Id="rId20" Type="http://schemas.openxmlformats.org/officeDocument/2006/relationships/slide" Target="slides/slide12.xml"/><Relationship Id="rId41" Type="http://schemas.openxmlformats.org/officeDocument/2006/relationships/font" Target="fonts/DMSans-boldItalic.fntdata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font" Target="fonts/IBMPlexSans-bold.fntdata"/><Relationship Id="rId10" Type="http://schemas.openxmlformats.org/officeDocument/2006/relationships/slide" Target="slides/slide2.xml"/><Relationship Id="rId32" Type="http://schemas.openxmlformats.org/officeDocument/2006/relationships/font" Target="fonts/IBMPlexSans-regular.fntdata"/><Relationship Id="rId13" Type="http://schemas.openxmlformats.org/officeDocument/2006/relationships/slide" Target="slides/slide5.xml"/><Relationship Id="rId35" Type="http://schemas.openxmlformats.org/officeDocument/2006/relationships/font" Target="fonts/IBMPlexSans-boldItalic.fntdata"/><Relationship Id="rId12" Type="http://schemas.openxmlformats.org/officeDocument/2006/relationships/slide" Target="slides/slide4.xml"/><Relationship Id="rId34" Type="http://schemas.openxmlformats.org/officeDocument/2006/relationships/font" Target="fonts/IBMPlexSans-italic.fntdata"/><Relationship Id="rId15" Type="http://schemas.openxmlformats.org/officeDocument/2006/relationships/slide" Target="slides/slide7.xml"/><Relationship Id="rId37" Type="http://schemas.openxmlformats.org/officeDocument/2006/relationships/font" Target="fonts/Play-bold.fntdata"/><Relationship Id="rId14" Type="http://schemas.openxmlformats.org/officeDocument/2006/relationships/slide" Target="slides/slide6.xml"/><Relationship Id="rId36" Type="http://schemas.openxmlformats.org/officeDocument/2006/relationships/font" Target="fonts/Play-regular.fntdata"/><Relationship Id="rId17" Type="http://schemas.openxmlformats.org/officeDocument/2006/relationships/slide" Target="slides/slide9.xml"/><Relationship Id="rId39" Type="http://schemas.openxmlformats.org/officeDocument/2006/relationships/font" Target="fonts/DMSans-bold.fntdata"/><Relationship Id="rId16" Type="http://schemas.openxmlformats.org/officeDocument/2006/relationships/slide" Target="slides/slide8.xml"/><Relationship Id="rId38" Type="http://schemas.openxmlformats.org/officeDocument/2006/relationships/font" Target="fonts/DMSans-regular.fntdata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2c8f91d5f6982453_5_7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h2c8f91d5f6982453_5_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2c8f91d5f6982453_5_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h2c8f91d5f6982453_5_8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h2c8f91d5f6982453_5_8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2d4910db1cab935a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h2d4910db1cab935a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h2d4910db1cab935a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h2c8f91d5f6982453_5_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h2c8f91d5f6982453_5_10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h2c8f91d5f6982453_5_10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h2c8f91d5f6982453_5_1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h2c8f91d5f6982453_5_1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h2c8f91d5f6982453_5_1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2c8f91d5f6982453_5_1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h2c8f91d5f6982453_5_1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h2c8f91d5f6982453_5_1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2c8f91d5f6982453_5_1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h2c8f91d5f6982453_5_14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h2c8f91d5f6982453_5_14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h311e2f078bc59eea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2" name="Google Shape;232;h311e2f078bc59eea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h311e2f078bc59eea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h2c8f91d5f6982453_18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h2c8f91d5f6982453_18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h2c8f91d5f6982453_18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2c8f91d5f6982453_35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2c8f91d5f6982453_35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h2c8f91d5f6982453_35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h2c8f91d5f6982453_18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h2c8f91d5f6982453_18_4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h2c8f91d5f6982453_18_4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h1eb388ce2fcb6e8_16_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h1eb388ce2fcb6e8_16_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Cover.</a:t>
            </a:r>
            <a:endParaRPr/>
          </a:p>
        </p:txBody>
      </p:sp>
      <p:sp>
        <p:nvSpPr>
          <p:cNvPr id="300" name="Google Shape;300;h1eb388ce2fcb6e8_16_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h1eb388ce2fcb6e8_16_7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" name="Google Shape;307;h1eb388ce2fcb6e8_16_7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 80/20 split; test R² by depth: 4 → 0.921, 8 → 0.918, 15 → 0.933.</a:t>
            </a:r>
            <a:endParaRPr/>
          </a:p>
        </p:txBody>
      </p:sp>
      <p:sp>
        <p:nvSpPr>
          <p:cNvPr id="308" name="Google Shape;308;h1eb388ce2fcb6e8_16_7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h1eb388ce2fcb6e8_16_8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h1eb388ce2fcb6e8_16_8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Folds: 0.905, 0.925, 0.914, 0.920, 0.913. Mild overfitting remains.</a:t>
            </a:r>
            <a:endParaRPr/>
          </a:p>
        </p:txBody>
      </p:sp>
      <p:sp>
        <p:nvSpPr>
          <p:cNvPr id="320" name="Google Shape;320;h1eb388ce2fcb6e8_16_8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h1eb388ce2fcb6e8_16_10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1" name="Google Shape;331;h1eb388ce2fcb6e8_16_10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absolute error on the test set grouped by building type.</a:t>
            </a:r>
            <a:endParaRPr/>
          </a:p>
        </p:txBody>
      </p:sp>
      <p:sp>
        <p:nvSpPr>
          <p:cNvPr id="332" name="Google Shape;332;h1eb388ce2fcb6e8_16_10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h55f610596eb4887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h55f610596eb4887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h55f610596eb4887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h55f610596eb4887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h55f610596eb488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h55f610596eb488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h55f610596eb4887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h55f610596eb488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h55f610596eb4887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h55f610596eb4887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h1eb388ce2fcb6e8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h1eb388ce2fcb6e8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h2c8f91d5f6982453_1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4" name="Google Shape;414;h2c8f91d5f6982453_13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h2c8f91d5f6982453_13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2" name="Google Shape;72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9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9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5" name="Google Shape;85;p19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6" name="Google Shape;86;p1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7" name="Google Shape;87;p1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8" name="Google Shape;88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2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3" name="Google Shape;103;p22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4" name="Google Shape;104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3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3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1" name="Google Shape;111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3" name="Google Shape;113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24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7" name="Google Shape;117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5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5" name="Google Shape;125;p2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title"/>
          </p:nvPr>
        </p:nvSpPr>
        <p:spPr>
          <a:xfrm>
            <a:off x="609600" y="609600"/>
            <a:ext cx="79248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700"/>
              <a:buFont typeface="Georgia"/>
              <a:buNone/>
              <a:defRPr sz="2700">
                <a:solidFill>
                  <a:srgbClr val="1B2A3A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1" name="Google Shape;131;p27"/>
          <p:cNvSpPr txBox="1"/>
          <p:nvPr>
            <p:ph idx="1" type="body"/>
          </p:nvPr>
        </p:nvSpPr>
        <p:spPr>
          <a:xfrm>
            <a:off x="609600" y="1215390"/>
            <a:ext cx="7924800" cy="3318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1B2A3A"/>
              </a:buClr>
              <a:buSzPts val="1200"/>
              <a:buNone/>
              <a:defRPr sz="120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6"/>
          <p:cNvSpPr txBox="1"/>
          <p:nvPr>
            <p:ph type="title"/>
          </p:nvPr>
        </p:nvSpPr>
        <p:spPr>
          <a:xfrm>
            <a:off x="609600" y="609600"/>
            <a:ext cx="79248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700"/>
              <a:buFont typeface="Georgia"/>
              <a:buNone/>
              <a:defRPr b="0" i="0" sz="2700" u="none" cap="none" strike="noStrike">
                <a:solidFill>
                  <a:srgbClr val="1B2A3A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8" name="Google Shape;128;p26"/>
          <p:cNvSpPr txBox="1"/>
          <p:nvPr>
            <p:ph idx="1" type="body"/>
          </p:nvPr>
        </p:nvSpPr>
        <p:spPr>
          <a:xfrm>
            <a:off x="609600" y="1215390"/>
            <a:ext cx="7924800" cy="3318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ithub.com/Goutam363/painting-cost-prediction" TargetMode="External"/><Relationship Id="rId4" Type="http://schemas.openxmlformats.org/officeDocument/2006/relationships/hyperlink" Target="https://www.kaggle.com/datasets/kaiwalyaatulraut/construction-and-electrical-boq-dataset" TargetMode="External"/><Relationship Id="rId5" Type="http://schemas.openxmlformats.org/officeDocument/2006/relationships/image" Target="../media/image4.png"/><Relationship Id="rId6" Type="http://schemas.openxmlformats.org/officeDocument/2006/relationships/hyperlink" Target="https://painting-cost-prediction.streamlit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Google Shape;137;p29"/>
          <p:cNvCxnSpPr/>
          <p:nvPr/>
        </p:nvCxnSpPr>
        <p:spPr>
          <a:xfrm>
            <a:off x="0" y="1298566"/>
            <a:ext cx="9144000" cy="0"/>
          </a:xfrm>
          <a:prstGeom prst="straightConnector1">
            <a:avLst/>
          </a:prstGeom>
          <a:noFill/>
          <a:ln cap="flat" cmpd="sng" w="571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38" name="Google Shape;138;p29"/>
          <p:cNvCxnSpPr/>
          <p:nvPr/>
        </p:nvCxnSpPr>
        <p:spPr>
          <a:xfrm>
            <a:off x="0" y="464376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39" name="Google Shape;139;p29"/>
          <p:cNvSpPr txBox="1"/>
          <p:nvPr/>
        </p:nvSpPr>
        <p:spPr>
          <a:xfrm>
            <a:off x="0" y="4658752"/>
            <a:ext cx="9144000" cy="48474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Presented by 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3 Team members</a:t>
            </a:r>
            <a:endParaRPr sz="1100"/>
          </a:p>
        </p:txBody>
      </p:sp>
      <p:pic>
        <p:nvPicPr>
          <p:cNvPr descr="ROORKEE&#10;&#10;AI-generated content may be incorrect." id="140" name="Google Shape;14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3639" y="3379902"/>
            <a:ext cx="1156720" cy="116368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9"/>
          <p:cNvSpPr txBox="1"/>
          <p:nvPr/>
        </p:nvSpPr>
        <p:spPr>
          <a:xfrm>
            <a:off x="2989800" y="1499825"/>
            <a:ext cx="3164400" cy="11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Goutam Halder      (26911005)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Aditya Sharma       (26535002)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Soumyadeep Sen  (26535031)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Ayush Katariya      (26535006)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    </a:t>
            </a:r>
            <a:r>
              <a:rPr b="1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Satyam Shukla       (26535025)</a:t>
            </a:r>
            <a:endParaRPr sz="1100"/>
          </a:p>
        </p:txBody>
      </p:sp>
      <p:sp>
        <p:nvSpPr>
          <p:cNvPr id="142" name="Google Shape;142;p29"/>
          <p:cNvSpPr txBox="1"/>
          <p:nvPr/>
        </p:nvSpPr>
        <p:spPr>
          <a:xfrm>
            <a:off x="-75271" y="192680"/>
            <a:ext cx="9144000" cy="9002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Using ML to Improve the Business of a Chain of Building Painting Works</a:t>
            </a:r>
            <a:endParaRPr b="1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9"/>
          <p:cNvSpPr txBox="1"/>
          <p:nvPr/>
        </p:nvSpPr>
        <p:spPr>
          <a:xfrm>
            <a:off x="7260047" y="4406040"/>
            <a:ext cx="25326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*Authors contributed equally</a:t>
            </a:r>
            <a:endParaRPr sz="1100"/>
          </a:p>
        </p:txBody>
      </p:sp>
      <p:sp>
        <p:nvSpPr>
          <p:cNvPr id="144" name="Google Shape;144;p29"/>
          <p:cNvSpPr txBox="1"/>
          <p:nvPr/>
        </p:nvSpPr>
        <p:spPr>
          <a:xfrm>
            <a:off x="2854200" y="3053325"/>
            <a:ext cx="3435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Indian Institute of Technology Roorkee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30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1" name="Google Shape;151;p30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" sz="3300">
                <a:solidFill>
                  <a:schemeClr val="dk1"/>
                </a:solidFill>
              </a:rPr>
              <a:t>Group Members and Their Contributions</a:t>
            </a:r>
            <a:endParaRPr b="1" sz="3300">
              <a:solidFill>
                <a:schemeClr val="dk1"/>
              </a:solidFill>
            </a:endParaRPr>
          </a:p>
        </p:txBody>
      </p:sp>
      <p:graphicFrame>
        <p:nvGraphicFramePr>
          <p:cNvPr id="152" name="Google Shape;152;p30"/>
          <p:cNvGraphicFramePr/>
          <p:nvPr/>
        </p:nvGraphicFramePr>
        <p:xfrm>
          <a:off x="952500" y="987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{B177CFA1-0BE8-4A10-A344-8AC451ACEC89}</a:tableStyleId>
              </a:tblPr>
              <a:tblGrid>
                <a:gridCol w="1964700"/>
                <a:gridCol w="1686275"/>
                <a:gridCol w="3588025"/>
              </a:tblGrid>
              <a:tr h="380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Name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Enrolment Number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Contribution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Goutam Halder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26911005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Dataset collection &amp; understanding of the dataset, data preprocessing, plotting of the results, UI development and integration.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Aditya Sharma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26535002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Linear Regression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Soumyadeep Sen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26535031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Decision Tree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Ayush Katariya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26535006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and evaluation of the Support Vector Regression model.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Satyam Shukla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26535025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Result analysis, report preparation, readme file preparation.</a:t>
                      </a:r>
                      <a:endParaRPr/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8" name="Google Shape;158;p31"/>
          <p:cNvCxnSpPr/>
          <p:nvPr/>
        </p:nvCxnSpPr>
        <p:spPr>
          <a:xfrm>
            <a:off x="0" y="75896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59" name="Google Shape;159;p31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100"/>
          </a:p>
        </p:txBody>
      </p:sp>
      <p:pic>
        <p:nvPicPr>
          <p:cNvPr id="160" name="Google Shape;16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98" y="1191122"/>
            <a:ext cx="8967006" cy="142837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1"/>
          <p:cNvSpPr txBox="1"/>
          <p:nvPr/>
        </p:nvSpPr>
        <p:spPr>
          <a:xfrm>
            <a:off x="-509376" y="844873"/>
            <a:ext cx="41955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08283F"/>
                </a:solidFill>
                <a:latin typeface="Arial"/>
                <a:ea typeface="Arial"/>
                <a:cs typeface="Arial"/>
                <a:sym typeface="Arial"/>
              </a:rPr>
              <a:t>Painting Project Workflow</a:t>
            </a:r>
            <a:endParaRPr sz="1100"/>
          </a:p>
        </p:txBody>
      </p:sp>
      <p:sp>
        <p:nvSpPr>
          <p:cNvPr id="162" name="Google Shape;162;p31"/>
          <p:cNvSpPr/>
          <p:nvPr/>
        </p:nvSpPr>
        <p:spPr>
          <a:xfrm>
            <a:off x="88500" y="2714950"/>
            <a:ext cx="1637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Site Visit and Requirement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(Measure Area, Check Condition) </a:t>
            </a:r>
            <a:endParaRPr sz="1100"/>
          </a:p>
        </p:txBody>
      </p:sp>
      <p:sp>
        <p:nvSpPr>
          <p:cNvPr id="163" name="Google Shape;163;p31"/>
          <p:cNvSpPr/>
          <p:nvPr/>
        </p:nvSpPr>
        <p:spPr>
          <a:xfrm>
            <a:off x="1817750" y="2715012"/>
            <a:ext cx="15450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Cost Estimation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(Material, Labour, Surface Area)</a:t>
            </a:r>
            <a:endParaRPr sz="1100"/>
          </a:p>
        </p:txBody>
      </p:sp>
      <p:sp>
        <p:nvSpPr>
          <p:cNvPr id="164" name="Google Shape;164;p31"/>
          <p:cNvSpPr/>
          <p:nvPr/>
        </p:nvSpPr>
        <p:spPr>
          <a:xfrm>
            <a:off x="3686225" y="2715012"/>
            <a:ext cx="1154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Submit Quotation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(To Customer) </a:t>
            </a:r>
            <a:endParaRPr sz="1100"/>
          </a:p>
        </p:txBody>
      </p:sp>
      <p:sp>
        <p:nvSpPr>
          <p:cNvPr id="165" name="Google Shape;165;p31"/>
          <p:cNvSpPr/>
          <p:nvPr/>
        </p:nvSpPr>
        <p:spPr>
          <a:xfrm>
            <a:off x="5304850" y="2715012"/>
            <a:ext cx="1154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 Execution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(Painting Work) </a:t>
            </a:r>
            <a:endParaRPr sz="1100"/>
          </a:p>
        </p:txBody>
      </p:sp>
      <p:sp>
        <p:nvSpPr>
          <p:cNvPr id="166" name="Google Shape;166;p31"/>
          <p:cNvSpPr/>
          <p:nvPr/>
        </p:nvSpPr>
        <p:spPr>
          <a:xfrm>
            <a:off x="7115225" y="2715012"/>
            <a:ext cx="1637100" cy="518400"/>
          </a:xfrm>
          <a:prstGeom prst="roundRect">
            <a:avLst>
              <a:gd fmla="val 16667" name="adj"/>
            </a:avLst>
          </a:prstGeom>
          <a:solidFill>
            <a:srgbClr val="A3C5E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Completed Project</a:t>
            </a: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/>
          </a:p>
        </p:txBody>
      </p:sp>
      <p:sp>
        <p:nvSpPr>
          <p:cNvPr id="167" name="Google Shape;167;p31"/>
          <p:cNvSpPr/>
          <p:nvPr/>
        </p:nvSpPr>
        <p:spPr>
          <a:xfrm>
            <a:off x="112100" y="3605000"/>
            <a:ext cx="5192700" cy="1428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31"/>
          <p:cNvSpPr/>
          <p:nvPr/>
        </p:nvSpPr>
        <p:spPr>
          <a:xfrm>
            <a:off x="112095" y="3385545"/>
            <a:ext cx="1390200" cy="219600"/>
          </a:xfrm>
          <a:prstGeom prst="roundRect">
            <a:avLst>
              <a:gd fmla="val 16667" name="adj"/>
            </a:avLst>
          </a:prstGeom>
          <a:solidFill>
            <a:srgbClr val="FF757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Challenges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31"/>
          <p:cNvSpPr/>
          <p:nvPr/>
        </p:nvSpPr>
        <p:spPr>
          <a:xfrm>
            <a:off x="226400" y="3719300"/>
            <a:ext cx="2487000" cy="12042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Underestimating Cost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reduce profit margin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May lead to financial loss</a:t>
            </a:r>
            <a:endParaRPr sz="1100"/>
          </a:p>
          <a:p>
            <a:pPr indent="-1778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78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1"/>
          <p:cNvSpPr/>
          <p:nvPr/>
        </p:nvSpPr>
        <p:spPr>
          <a:xfrm>
            <a:off x="2873099" y="3717056"/>
            <a:ext cx="2329500" cy="12087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Overestimating Cost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Quotation may be higher than competitors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Lower chance of wining bids and retain customers</a:t>
            </a:r>
            <a:endParaRPr sz="1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" name="Google Shape;176;p32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7" name="Google Shape;177;p32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 sz="1100"/>
          </a:p>
        </p:txBody>
      </p:sp>
      <p:sp>
        <p:nvSpPr>
          <p:cNvPr id="178" name="Google Shape;178;p32"/>
          <p:cNvSpPr/>
          <p:nvPr/>
        </p:nvSpPr>
        <p:spPr>
          <a:xfrm>
            <a:off x="1747691" y="1187533"/>
            <a:ext cx="6386100" cy="2097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2"/>
          <p:cNvSpPr/>
          <p:nvPr/>
        </p:nvSpPr>
        <p:spPr>
          <a:xfrm>
            <a:off x="1747700" y="854100"/>
            <a:ext cx="1231500" cy="333300"/>
          </a:xfrm>
          <a:prstGeom prst="roundRect">
            <a:avLst>
              <a:gd fmla="val 16667" name="adj"/>
            </a:avLst>
          </a:prstGeom>
          <a:solidFill>
            <a:srgbClr val="FF757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Practical Difficulties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2"/>
          <p:cNvSpPr/>
          <p:nvPr/>
        </p:nvSpPr>
        <p:spPr>
          <a:xfrm>
            <a:off x="1747663" y="1187563"/>
            <a:ext cx="6386100" cy="2097300"/>
          </a:xfrm>
          <a:prstGeom prst="roundRect">
            <a:avLst>
              <a:gd fmla="val 16667" name="adj"/>
            </a:avLst>
          </a:prstGeom>
          <a:solidFill>
            <a:srgbClr val="FFC5C5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Manual estimates may vary between different estimators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Historical project information may not be used consistently and efficiently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painting business needs estimates quickly when preparing the quotation</a:t>
            </a:r>
            <a:endParaRPr sz="1100"/>
          </a:p>
          <a:p>
            <a:pPr indent="-254000" lvl="0" marL="2540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Incorrect estimation can affect profitability</a:t>
            </a:r>
            <a:endParaRPr sz="1100"/>
          </a:p>
        </p:txBody>
      </p:sp>
      <p:sp>
        <p:nvSpPr>
          <p:cNvPr id="181" name="Google Shape;181;p32"/>
          <p:cNvSpPr/>
          <p:nvPr/>
        </p:nvSpPr>
        <p:spPr>
          <a:xfrm>
            <a:off x="1884100" y="3567925"/>
            <a:ext cx="6138900" cy="92520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2"/>
          <p:cNvSpPr/>
          <p:nvPr/>
        </p:nvSpPr>
        <p:spPr>
          <a:xfrm>
            <a:off x="1884114" y="3567998"/>
            <a:ext cx="6139009" cy="92516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Our Project Goal: Develop an ML model for painting cost estimation.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" name="Google Shape;188;p33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9" name="Google Shape;189;p33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Proposed ML-Based Business Solution</a:t>
            </a:r>
            <a:endParaRPr sz="1100"/>
          </a:p>
        </p:txBody>
      </p:sp>
      <p:sp>
        <p:nvSpPr>
          <p:cNvPr id="190" name="Google Shape;190;p33"/>
          <p:cNvSpPr/>
          <p:nvPr/>
        </p:nvSpPr>
        <p:spPr>
          <a:xfrm>
            <a:off x="736625" y="1924175"/>
            <a:ext cx="4605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3"/>
          <p:cNvSpPr/>
          <p:nvPr/>
        </p:nvSpPr>
        <p:spPr>
          <a:xfrm>
            <a:off x="3444625" y="1908375"/>
            <a:ext cx="4887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7540" y="3184625"/>
            <a:ext cx="775998" cy="775998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3"/>
          <p:cNvSpPr txBox="1"/>
          <p:nvPr/>
        </p:nvSpPr>
        <p:spPr>
          <a:xfrm>
            <a:off x="6032175" y="3960625"/>
            <a:ext cx="29790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Integrate best model to Frontend UI</a:t>
            </a:r>
            <a:endParaRPr sz="1100"/>
          </a:p>
        </p:txBody>
      </p:sp>
      <p:sp>
        <p:nvSpPr>
          <p:cNvPr id="194" name="Google Shape;194;p33"/>
          <p:cNvSpPr/>
          <p:nvPr/>
        </p:nvSpPr>
        <p:spPr>
          <a:xfrm rot="5400000">
            <a:off x="7101384" y="2720372"/>
            <a:ext cx="6882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3"/>
          <p:cNvSpPr/>
          <p:nvPr/>
        </p:nvSpPr>
        <p:spPr>
          <a:xfrm>
            <a:off x="6323736" y="3347700"/>
            <a:ext cx="733800" cy="276900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3"/>
          <p:cNvSpPr/>
          <p:nvPr/>
        </p:nvSpPr>
        <p:spPr>
          <a:xfrm rot="5400000">
            <a:off x="4539614" y="4065755"/>
            <a:ext cx="5133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3"/>
          <p:cNvSpPr/>
          <p:nvPr/>
        </p:nvSpPr>
        <p:spPr>
          <a:xfrm rot="-5400000">
            <a:off x="-843925" y="1932725"/>
            <a:ext cx="2659200" cy="5019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Historical BOQ Records</a:t>
            </a:r>
            <a:endParaRPr sz="469">
              <a:solidFill>
                <a:srgbClr val="01010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98" name="Google Shape;198;p33"/>
          <p:cNvSpPr/>
          <p:nvPr/>
        </p:nvSpPr>
        <p:spPr>
          <a:xfrm>
            <a:off x="1197036" y="1603350"/>
            <a:ext cx="22476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Data Cleaning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&amp;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Feature Preparation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199" name="Google Shape;199;p33"/>
          <p:cNvSpPr/>
          <p:nvPr/>
        </p:nvSpPr>
        <p:spPr>
          <a:xfrm>
            <a:off x="3933375" y="1601225"/>
            <a:ext cx="20988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Training Multiple Regression Model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0" name="Google Shape;200;p33"/>
          <p:cNvSpPr/>
          <p:nvPr/>
        </p:nvSpPr>
        <p:spPr>
          <a:xfrm>
            <a:off x="3328113" y="3043038"/>
            <a:ext cx="29364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The model predicts the painting cost according to the requirements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1" name="Google Shape;201;p33"/>
          <p:cNvSpPr/>
          <p:nvPr/>
        </p:nvSpPr>
        <p:spPr>
          <a:xfrm>
            <a:off x="3215475" y="4482750"/>
            <a:ext cx="3161700" cy="4215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Estimator review the quotation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02" name="Google Shape;202;p33"/>
          <p:cNvSpPr/>
          <p:nvPr/>
        </p:nvSpPr>
        <p:spPr>
          <a:xfrm>
            <a:off x="6032225" y="1917375"/>
            <a:ext cx="483300" cy="240300"/>
          </a:xfrm>
          <a:prstGeom prst="rightArrow">
            <a:avLst>
              <a:gd fmla="val 50000" name="adj1"/>
              <a:gd fmla="val 45942" name="adj2"/>
            </a:avLst>
          </a:prstGeom>
          <a:solidFill>
            <a:schemeClr val="accent1"/>
          </a:solidFill>
          <a:ln cap="flat" cmpd="sng" w="19050">
            <a:solidFill>
              <a:srgbClr val="0F465E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3"/>
          <p:cNvSpPr/>
          <p:nvPr/>
        </p:nvSpPr>
        <p:spPr>
          <a:xfrm>
            <a:off x="6515250" y="1610225"/>
            <a:ext cx="1860600" cy="886200"/>
          </a:xfrm>
          <a:prstGeom prst="roundRect">
            <a:avLst>
              <a:gd fmla="val 50000" name="adj"/>
            </a:avLst>
          </a:prstGeom>
          <a:solidFill>
            <a:srgbClr val="E8F4FF"/>
          </a:solidFill>
          <a:ln cap="flat" cmpd="sng" w="37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6400" lIns="71400" spcFirstLastPara="1" rIns="71400" wrap="square" tIns="464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Test the Models</a:t>
            </a:r>
            <a:endParaRPr b="1"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34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10" name="Google Shape;210;p34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Dataset Source and Statistics</a:t>
            </a:r>
            <a:endParaRPr sz="1100"/>
          </a:p>
        </p:txBody>
      </p:sp>
      <p:sp>
        <p:nvSpPr>
          <p:cNvPr id="211" name="Google Shape;211;p34"/>
          <p:cNvSpPr/>
          <p:nvPr/>
        </p:nvSpPr>
        <p:spPr>
          <a:xfrm>
            <a:off x="3646589" y="2301338"/>
            <a:ext cx="1684954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1199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Usable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34"/>
          <p:cNvSpPr/>
          <p:nvPr/>
        </p:nvSpPr>
        <p:spPr>
          <a:xfrm>
            <a:off x="3613404" y="854099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25645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Overall samples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4"/>
          <p:cNvSpPr/>
          <p:nvPr/>
        </p:nvSpPr>
        <p:spPr>
          <a:xfrm>
            <a:off x="1895267" y="3747737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846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Training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4"/>
          <p:cNvSpPr/>
          <p:nvPr/>
        </p:nvSpPr>
        <p:spPr>
          <a:xfrm>
            <a:off x="5331542" y="3747737"/>
            <a:ext cx="1751321" cy="116513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353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Testing sample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34"/>
          <p:cNvSpPr txBox="1"/>
          <p:nvPr/>
        </p:nvSpPr>
        <p:spPr>
          <a:xfrm>
            <a:off x="4125425" y="4042425"/>
            <a:ext cx="8757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7:3 ratio</a:t>
            </a:r>
            <a:endParaRPr sz="1100"/>
          </a:p>
        </p:txBody>
      </p:sp>
      <p:cxnSp>
        <p:nvCxnSpPr>
          <p:cNvPr id="216" name="Google Shape;216;p34"/>
          <p:cNvCxnSpPr>
            <a:stCxn id="212" idx="2"/>
            <a:endCxn id="211" idx="0"/>
          </p:cNvCxnSpPr>
          <p:nvPr/>
        </p:nvCxnSpPr>
        <p:spPr>
          <a:xfrm>
            <a:off x="4489065" y="2019229"/>
            <a:ext cx="0" cy="2820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217" name="Google Shape;217;p34"/>
          <p:cNvCxnSpPr>
            <a:endCxn id="213" idx="0"/>
          </p:cNvCxnSpPr>
          <p:nvPr/>
        </p:nvCxnSpPr>
        <p:spPr>
          <a:xfrm flipH="1">
            <a:off x="2770928" y="3382037"/>
            <a:ext cx="875700" cy="3657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218" name="Google Shape;218;p34"/>
          <p:cNvCxnSpPr>
            <a:endCxn id="214" idx="0"/>
          </p:cNvCxnSpPr>
          <p:nvPr/>
        </p:nvCxnSpPr>
        <p:spPr>
          <a:xfrm>
            <a:off x="5331503" y="3382037"/>
            <a:ext cx="875700" cy="3657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4" name="Google Shape;224;p35"/>
          <p:cNvCxnSpPr/>
          <p:nvPr/>
        </p:nvCxnSpPr>
        <p:spPr>
          <a:xfrm>
            <a:off x="0" y="75895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25" name="Google Shape;225;p35"/>
          <p:cNvSpPr txBox="1"/>
          <p:nvPr/>
        </p:nvSpPr>
        <p:spPr>
          <a:xfrm>
            <a:off x="0" y="86741"/>
            <a:ext cx="914400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 Features and Target Variable</a:t>
            </a:r>
            <a:endParaRPr sz="1100"/>
          </a:p>
        </p:txBody>
      </p:sp>
      <p:sp>
        <p:nvSpPr>
          <p:cNvPr id="226" name="Google Shape;226;p35"/>
          <p:cNvSpPr/>
          <p:nvPr/>
        </p:nvSpPr>
        <p:spPr>
          <a:xfrm>
            <a:off x="1778692" y="883153"/>
            <a:ext cx="5155800" cy="3153000"/>
          </a:xfrm>
          <a:prstGeom prst="roundRect">
            <a:avLst>
              <a:gd fmla="val 22317" name="adj"/>
            </a:avLst>
          </a:prstGeom>
          <a:solidFill>
            <a:srgbClr val="C9DAF8"/>
          </a:solidFill>
          <a:ln cap="flat" cmpd="sng" w="19050">
            <a:solidFill>
              <a:srgbClr val="0B304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5"/>
          <p:cNvSpPr txBox="1"/>
          <p:nvPr/>
        </p:nvSpPr>
        <p:spPr>
          <a:xfrm>
            <a:off x="2253610" y="992824"/>
            <a:ext cx="4206000" cy="28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Features: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item_name (Ex: Interior emulsion paint (2 coats)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quantity (in sqm)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building_type (Ex: Residential - Independent House)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state (Ex: West Bengal)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city (Ex: Kolkata)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project_year (Year of project start)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project_month (Month of project start)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5"/>
          <p:cNvSpPr/>
          <p:nvPr/>
        </p:nvSpPr>
        <p:spPr>
          <a:xfrm>
            <a:off x="1825900" y="4192525"/>
            <a:ext cx="5155800" cy="757500"/>
          </a:xfrm>
          <a:prstGeom prst="roundRect">
            <a:avLst>
              <a:gd fmla="val 16667" name="adj"/>
            </a:avLst>
          </a:prstGeom>
          <a:solidFill>
            <a:srgbClr val="84E18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5"/>
          <p:cNvSpPr txBox="1"/>
          <p:nvPr/>
        </p:nvSpPr>
        <p:spPr>
          <a:xfrm>
            <a:off x="2253596" y="4267214"/>
            <a:ext cx="42060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Targeting Variable:</a:t>
            </a:r>
            <a:endParaRPr sz="1100"/>
          </a:p>
          <a:p>
            <a:pPr indent="-215900" lvl="0" marL="215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❑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amount_inr (Target painting cost)</a:t>
            </a:r>
            <a:endParaRPr sz="11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5" name="Google Shape;235;p36"/>
          <p:cNvCxnSpPr/>
          <p:nvPr/>
        </p:nvCxnSpPr>
        <p:spPr>
          <a:xfrm>
            <a:off x="0" y="75896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36" name="Google Shape;236;p36"/>
          <p:cNvSpPr txBox="1"/>
          <p:nvPr/>
        </p:nvSpPr>
        <p:spPr>
          <a:xfrm>
            <a:off x="0" y="86740"/>
            <a:ext cx="9144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</a:rPr>
              <a:t>Correlation Matrix</a:t>
            </a:r>
            <a:endParaRPr sz="1100"/>
          </a:p>
        </p:txBody>
      </p:sp>
      <p:pic>
        <p:nvPicPr>
          <p:cNvPr id="237" name="Google Shape;237;p36" title="CorrelationMatrix.png"/>
          <p:cNvPicPr preferRelativeResize="0"/>
          <p:nvPr/>
        </p:nvPicPr>
        <p:blipFill rotWithShape="1">
          <a:blip r:embed="rId3">
            <a:alphaModFix/>
          </a:blip>
          <a:srcRect b="0" l="-340" r="340" t="1970"/>
          <a:stretch/>
        </p:blipFill>
        <p:spPr>
          <a:xfrm>
            <a:off x="1830462" y="790900"/>
            <a:ext cx="5483075" cy="4352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7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Implementation</a:t>
            </a:r>
            <a:br>
              <a:rPr lang="en" sz="2100"/>
            </a:br>
            <a:endParaRPr sz="2100"/>
          </a:p>
        </p:txBody>
      </p:sp>
      <p:sp>
        <p:nvSpPr>
          <p:cNvPr id="244" name="Google Shape;244;p37"/>
          <p:cNvSpPr/>
          <p:nvPr/>
        </p:nvSpPr>
        <p:spPr>
          <a:xfrm>
            <a:off x="236764" y="700496"/>
            <a:ext cx="8684759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7"/>
          <p:cNvSpPr txBox="1"/>
          <p:nvPr/>
        </p:nvSpPr>
        <p:spPr>
          <a:xfrm>
            <a:off x="435025" y="827700"/>
            <a:ext cx="8427000" cy="11466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path path="circle">
              <a:fillToRect b="50%" l="50%" r="50%" t="50%"/>
            </a:path>
            <a:tileRect/>
          </a:gra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Why Linear Regression</a:t>
            </a:r>
            <a:r>
              <a:rPr b="1" i="0" lang="en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?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Simple and easy to interpret</a:t>
            </a:r>
            <a:r>
              <a:rPr lang="en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Predicts continuous values like painting cost</a:t>
            </a:r>
            <a:r>
              <a:rPr lang="en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Provides a baseline to compare with other models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6" name="Google Shape;246;p37"/>
          <p:cNvSpPr/>
          <p:nvPr/>
        </p:nvSpPr>
        <p:spPr>
          <a:xfrm>
            <a:off x="437606" y="2072315"/>
            <a:ext cx="3831092" cy="1107996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7"/>
          <p:cNvSpPr txBox="1"/>
          <p:nvPr/>
        </p:nvSpPr>
        <p:spPr>
          <a:xfrm>
            <a:off x="631333" y="2119175"/>
            <a:ext cx="247377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 Prepare the data      </a:t>
            </a:r>
            <a:endParaRPr sz="1100"/>
          </a:p>
        </p:txBody>
      </p:sp>
      <p:sp>
        <p:nvSpPr>
          <p:cNvPr id="248" name="Google Shape;248;p37"/>
          <p:cNvSpPr/>
          <p:nvPr/>
        </p:nvSpPr>
        <p:spPr>
          <a:xfrm flipH="1">
            <a:off x="435013" y="2064739"/>
            <a:ext cx="181022" cy="1115572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7"/>
          <p:cNvSpPr txBox="1"/>
          <p:nvPr/>
        </p:nvSpPr>
        <p:spPr>
          <a:xfrm>
            <a:off x="750352" y="2354396"/>
            <a:ext cx="31080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Remove </a:t>
            </a:r>
            <a:r>
              <a:rPr lang="en" sz="1200">
                <a:solidFill>
                  <a:schemeClr val="dk1"/>
                </a:solidFill>
              </a:rPr>
              <a:t>irrelevant</a:t>
            </a:r>
            <a:r>
              <a:rPr lang="en" sz="1200">
                <a:solidFill>
                  <a:schemeClr val="dk1"/>
                </a:solidFill>
              </a:rPr>
              <a:t> features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Assign Target column - amount_inr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Drop rows where target is missing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7"/>
          <p:cNvSpPr/>
          <p:nvPr/>
        </p:nvSpPr>
        <p:spPr>
          <a:xfrm>
            <a:off x="4679005" y="2080426"/>
            <a:ext cx="3957954" cy="1153376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37"/>
          <p:cNvSpPr/>
          <p:nvPr/>
        </p:nvSpPr>
        <p:spPr>
          <a:xfrm>
            <a:off x="2599043" y="3586645"/>
            <a:ext cx="4087449" cy="1212025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7"/>
          <p:cNvSpPr/>
          <p:nvPr/>
        </p:nvSpPr>
        <p:spPr>
          <a:xfrm flipH="1">
            <a:off x="4679004" y="2067232"/>
            <a:ext cx="196299" cy="1166570"/>
          </a:xfrm>
          <a:prstGeom prst="rect">
            <a:avLst/>
          </a:prstGeom>
          <a:solidFill>
            <a:srgbClr val="C000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7"/>
          <p:cNvSpPr/>
          <p:nvPr/>
        </p:nvSpPr>
        <p:spPr>
          <a:xfrm flipH="1">
            <a:off x="2599043" y="3575652"/>
            <a:ext cx="193142" cy="1212025"/>
          </a:xfrm>
          <a:prstGeom prst="rect">
            <a:avLst/>
          </a:prstGeom>
          <a:solidFill>
            <a:srgbClr val="FFFF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7"/>
          <p:cNvSpPr txBox="1"/>
          <p:nvPr/>
        </p:nvSpPr>
        <p:spPr>
          <a:xfrm>
            <a:off x="4980905" y="2045098"/>
            <a:ext cx="2931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 Preprocess features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7"/>
          <p:cNvSpPr txBox="1"/>
          <p:nvPr/>
        </p:nvSpPr>
        <p:spPr>
          <a:xfrm>
            <a:off x="5100131" y="2281085"/>
            <a:ext cx="2930977" cy="80791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Numeric missing values → median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Categorical missing values → most frequent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One-hot encode categorical features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7"/>
          <p:cNvSpPr txBox="1"/>
          <p:nvPr/>
        </p:nvSpPr>
        <p:spPr>
          <a:xfrm>
            <a:off x="2872807" y="3639111"/>
            <a:ext cx="1706336" cy="48474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Train / test split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7"/>
          <p:cNvSpPr txBox="1"/>
          <p:nvPr/>
        </p:nvSpPr>
        <p:spPr>
          <a:xfrm>
            <a:off x="2996035" y="3926818"/>
            <a:ext cx="3086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training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testing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random_state = 42 for reproducibility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8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Implementation</a:t>
            </a:r>
            <a:br>
              <a:rPr lang="en" sz="2100"/>
            </a:br>
            <a:endParaRPr sz="2100"/>
          </a:p>
        </p:txBody>
      </p:sp>
      <p:sp>
        <p:nvSpPr>
          <p:cNvPr id="264" name="Google Shape;264;p38"/>
          <p:cNvSpPr/>
          <p:nvPr/>
        </p:nvSpPr>
        <p:spPr>
          <a:xfrm>
            <a:off x="155121" y="700496"/>
            <a:ext cx="8752115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8"/>
          <p:cNvSpPr txBox="1"/>
          <p:nvPr/>
        </p:nvSpPr>
        <p:spPr>
          <a:xfrm>
            <a:off x="1175657" y="2416628"/>
            <a:ext cx="13854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8"/>
          <p:cNvSpPr txBox="1"/>
          <p:nvPr/>
        </p:nvSpPr>
        <p:spPr>
          <a:xfrm>
            <a:off x="215860" y="1036671"/>
            <a:ext cx="2341048" cy="4385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Pipeline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8"/>
          <p:cNvSpPr/>
          <p:nvPr/>
        </p:nvSpPr>
        <p:spPr>
          <a:xfrm>
            <a:off x="363927" y="1749631"/>
            <a:ext cx="1600200" cy="648300"/>
          </a:xfrm>
          <a:prstGeom prst="roundRect">
            <a:avLst>
              <a:gd fmla="val 16667" name="adj"/>
            </a:avLst>
          </a:prstGeom>
          <a:solidFill>
            <a:srgbClr val="D9E5F8"/>
          </a:solidFill>
          <a:ln cap="flat" cmpd="sng" w="19050">
            <a:solidFill>
              <a:srgbClr val="F2F2F2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 Feature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8"/>
          <p:cNvSpPr txBox="1"/>
          <p:nvPr/>
        </p:nvSpPr>
        <p:spPr>
          <a:xfrm>
            <a:off x="1964125" y="1852912"/>
            <a:ext cx="8196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8"/>
          <p:cNvSpPr/>
          <p:nvPr/>
        </p:nvSpPr>
        <p:spPr>
          <a:xfrm>
            <a:off x="2388970" y="1790879"/>
            <a:ext cx="1600200" cy="648300"/>
          </a:xfrm>
          <a:prstGeom prst="roundRect">
            <a:avLst>
              <a:gd fmla="val 16667" name="adj"/>
            </a:avLst>
          </a:prstGeom>
          <a:solidFill>
            <a:srgbClr val="F2CDED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Preprocessing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8"/>
          <p:cNvSpPr/>
          <p:nvPr/>
        </p:nvSpPr>
        <p:spPr>
          <a:xfrm>
            <a:off x="4453425" y="1823055"/>
            <a:ext cx="1681800" cy="648300"/>
          </a:xfrm>
          <a:prstGeom prst="roundRect">
            <a:avLst>
              <a:gd fmla="val 16667" name="adj"/>
            </a:avLst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Linear Regression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8"/>
          <p:cNvSpPr/>
          <p:nvPr/>
        </p:nvSpPr>
        <p:spPr>
          <a:xfrm>
            <a:off x="6599470" y="1823053"/>
            <a:ext cx="1681800" cy="648300"/>
          </a:xfrm>
          <a:prstGeom prst="roundRect">
            <a:avLst>
              <a:gd fmla="val 16667" name="adj"/>
            </a:avLst>
          </a:prstGeom>
          <a:solidFill>
            <a:srgbClr val="C1F0C7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Predicted 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amount_inr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8"/>
          <p:cNvSpPr txBox="1"/>
          <p:nvPr/>
        </p:nvSpPr>
        <p:spPr>
          <a:xfrm>
            <a:off x="4025047" y="1847115"/>
            <a:ext cx="9549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8"/>
          <p:cNvSpPr txBox="1"/>
          <p:nvPr/>
        </p:nvSpPr>
        <p:spPr>
          <a:xfrm>
            <a:off x="6110514" y="1847113"/>
            <a:ext cx="10752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8"/>
          <p:cNvSpPr txBox="1"/>
          <p:nvPr/>
        </p:nvSpPr>
        <p:spPr>
          <a:xfrm>
            <a:off x="246726" y="2754800"/>
            <a:ext cx="37878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Evaluation matrices</a:t>
            </a:r>
            <a:endParaRPr b="1"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8"/>
          <p:cNvSpPr/>
          <p:nvPr/>
        </p:nvSpPr>
        <p:spPr>
          <a:xfrm>
            <a:off x="468628" y="3348293"/>
            <a:ext cx="23151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38"/>
          <p:cNvSpPr/>
          <p:nvPr/>
        </p:nvSpPr>
        <p:spPr>
          <a:xfrm>
            <a:off x="3137765" y="3316842"/>
            <a:ext cx="22353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8"/>
          <p:cNvSpPr/>
          <p:nvPr/>
        </p:nvSpPr>
        <p:spPr>
          <a:xfrm>
            <a:off x="5827858" y="3316906"/>
            <a:ext cx="2235300" cy="1469700"/>
          </a:xfrm>
          <a:prstGeom prst="roundRect">
            <a:avLst>
              <a:gd fmla="val 16667" name="adj"/>
            </a:avLst>
          </a:prstGeom>
          <a:solidFill>
            <a:srgbClr val="D8D8D8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8"/>
          <p:cNvSpPr txBox="1"/>
          <p:nvPr/>
        </p:nvSpPr>
        <p:spPr>
          <a:xfrm>
            <a:off x="537006" y="3478427"/>
            <a:ext cx="18714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MAE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8"/>
          <p:cNvSpPr txBox="1"/>
          <p:nvPr/>
        </p:nvSpPr>
        <p:spPr>
          <a:xfrm>
            <a:off x="591671" y="3782310"/>
            <a:ext cx="24084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absolute difference between actual and predicted costs. Lower MAE indicates 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better prediction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8"/>
          <p:cNvSpPr txBox="1"/>
          <p:nvPr/>
        </p:nvSpPr>
        <p:spPr>
          <a:xfrm>
            <a:off x="3181687" y="3412660"/>
            <a:ext cx="18729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RMSE</a:t>
            </a:r>
            <a:endParaRPr b="1"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38"/>
          <p:cNvSpPr txBox="1"/>
          <p:nvPr/>
        </p:nvSpPr>
        <p:spPr>
          <a:xfrm>
            <a:off x="3273554" y="3763116"/>
            <a:ext cx="19638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Measures the difference between actual and predicted values, giving more penalty to larger errors..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8"/>
          <p:cNvSpPr txBox="1"/>
          <p:nvPr/>
        </p:nvSpPr>
        <p:spPr>
          <a:xfrm>
            <a:off x="5827850" y="3412654"/>
            <a:ext cx="19638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R² Score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8"/>
          <p:cNvSpPr txBox="1"/>
          <p:nvPr/>
        </p:nvSpPr>
        <p:spPr>
          <a:xfrm>
            <a:off x="5884150" y="3774722"/>
            <a:ext cx="2122800" cy="10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Shows how well the model explains variations in the target cost. A value closer to 1 indicates a better fit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9"/>
          <p:cNvSpPr txBox="1"/>
          <p:nvPr>
            <p:ph type="ctrTitle"/>
          </p:nvPr>
        </p:nvSpPr>
        <p:spPr>
          <a:xfrm flipH="1">
            <a:off x="-4" y="146957"/>
            <a:ext cx="9144001" cy="734785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</a:t>
            </a:r>
            <a:r>
              <a:rPr lang="en" sz="3300"/>
              <a:t>           </a:t>
            </a:r>
            <a:r>
              <a:rPr b="1" lang="en" sz="3300">
                <a:latin typeface="Arial"/>
                <a:ea typeface="Arial"/>
                <a:cs typeface="Arial"/>
                <a:sym typeface="Arial"/>
              </a:rPr>
              <a:t>Linear Regression: Evaluation Result</a:t>
            </a:r>
            <a:r>
              <a:rPr b="1" lang="en" sz="33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" sz="2100"/>
            </a:br>
            <a:endParaRPr sz="2100"/>
          </a:p>
        </p:txBody>
      </p:sp>
      <p:sp>
        <p:nvSpPr>
          <p:cNvPr id="290" name="Google Shape;290;p39"/>
          <p:cNvSpPr/>
          <p:nvPr/>
        </p:nvSpPr>
        <p:spPr>
          <a:xfrm>
            <a:off x="155121" y="700496"/>
            <a:ext cx="8752115" cy="34289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9"/>
          <p:cNvSpPr txBox="1"/>
          <p:nvPr/>
        </p:nvSpPr>
        <p:spPr>
          <a:xfrm>
            <a:off x="1175657" y="2416628"/>
            <a:ext cx="138548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9"/>
          <p:cNvSpPr txBox="1"/>
          <p:nvPr/>
        </p:nvSpPr>
        <p:spPr>
          <a:xfrm>
            <a:off x="1941305" y="1900674"/>
            <a:ext cx="464192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9"/>
          <p:cNvSpPr txBox="1"/>
          <p:nvPr/>
        </p:nvSpPr>
        <p:spPr>
          <a:xfrm>
            <a:off x="3893191" y="1911616"/>
            <a:ext cx="506186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9"/>
          <p:cNvSpPr txBox="1"/>
          <p:nvPr/>
        </p:nvSpPr>
        <p:spPr>
          <a:xfrm>
            <a:off x="5937230" y="1900674"/>
            <a:ext cx="138548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95" name="Google Shape;295;p39"/>
          <p:cNvGraphicFramePr/>
          <p:nvPr/>
        </p:nvGraphicFramePr>
        <p:xfrm>
          <a:off x="155121" y="1507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{3BC0AAAB-1D53-4040-A699-5D96CEA510C0}</a:tableStyleId>
              </a:tblPr>
              <a:tblGrid>
                <a:gridCol w="3789000"/>
                <a:gridCol w="3946925"/>
              </a:tblGrid>
              <a:tr h="632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matrices</a:t>
                      </a:r>
                      <a:endParaRPr b="1" sz="1400" u="none" cap="none" strike="noStrike"/>
                    </a:p>
                  </a:txBody>
                  <a:tcPr marT="34300" marB="34300" marR="68600" marL="68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Linear Regression</a:t>
                      </a:r>
                      <a:endParaRPr sz="1400" u="none" cap="none" strike="noStrike"/>
                    </a:p>
                  </a:txBody>
                  <a:tcPr marT="34300" marB="34300" marR="68600" marL="68600" anchor="ctr"/>
                </a:tc>
              </a:tr>
              <a:tr h="54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rgbClr val="2D374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       4,556,166</a:t>
                      </a:r>
                      <a:endParaRPr b="1">
                        <a:solidFill>
                          <a:srgbClr val="2D3748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RMSE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                  </a:t>
                      </a:r>
                      <a:r>
                        <a:rPr b="1" lang="en"/>
                        <a:t>7,446,062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R² score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                   0.9441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sp>
        <p:nvSpPr>
          <p:cNvPr id="296" name="Google Shape;296;p39"/>
          <p:cNvSpPr txBox="1"/>
          <p:nvPr/>
        </p:nvSpPr>
        <p:spPr>
          <a:xfrm>
            <a:off x="161303" y="947888"/>
            <a:ext cx="4024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performance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0"/>
          <p:cNvSpPr/>
          <p:nvPr/>
        </p:nvSpPr>
        <p:spPr>
          <a:xfrm>
            <a:off x="609600" y="1697355"/>
            <a:ext cx="816254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85A14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B85A14"/>
                </a:solidFill>
                <a:latin typeface="Arial"/>
                <a:ea typeface="Arial"/>
                <a:cs typeface="Arial"/>
                <a:sym typeface="Arial"/>
              </a:rPr>
              <a:t>MACHINE LEARNING PROJECT · MODEL EVALUATION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40"/>
          <p:cNvSpPr txBox="1"/>
          <p:nvPr>
            <p:ph type="title"/>
          </p:nvPr>
        </p:nvSpPr>
        <p:spPr>
          <a:xfrm>
            <a:off x="609600" y="2112645"/>
            <a:ext cx="8162544" cy="57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ct val="100000"/>
              <a:buFont typeface="Georgia"/>
              <a:buNone/>
            </a:pPr>
            <a:r>
              <a:rPr b="1" i="0" lang="en" sz="420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Decision Tree Regressor</a:t>
            </a:r>
            <a:endParaRPr b="1" sz="4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40"/>
          <p:cNvSpPr/>
          <p:nvPr/>
        </p:nvSpPr>
        <p:spPr>
          <a:xfrm>
            <a:off x="609600" y="2901315"/>
            <a:ext cx="6376988" cy="563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1700"/>
              <a:buFont typeface="Arial"/>
              <a:buNone/>
            </a:pPr>
            <a:r>
              <a:rPr b="0" i="0" lang="en" sz="17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Implementation and evaluation for painting cost (amount in INR) prediction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1"/>
          <p:cNvSpPr txBox="1"/>
          <p:nvPr>
            <p:ph type="title"/>
          </p:nvPr>
        </p:nvSpPr>
        <p:spPr>
          <a:xfrm>
            <a:off x="609600" y="232350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lang="en" sz="3130">
                <a:latin typeface="Arial"/>
                <a:ea typeface="Arial"/>
                <a:cs typeface="Arial"/>
                <a:sym typeface="Arial"/>
              </a:rPr>
              <a:t>                  </a:t>
            </a: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Effect of tree depth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epth plot" id="311" name="Google Shape;311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215391"/>
            <a:ext cx="47625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41"/>
          <p:cNvSpPr/>
          <p:nvPr/>
        </p:nvSpPr>
        <p:spPr>
          <a:xfrm>
            <a:off x="5603081" y="2006441"/>
            <a:ext cx="2928938" cy="1465897"/>
          </a:xfrm>
          <a:prstGeom prst="roundRect">
            <a:avLst>
              <a:gd fmla="val 5036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41"/>
          <p:cNvSpPr/>
          <p:nvPr/>
        </p:nvSpPr>
        <p:spPr>
          <a:xfrm>
            <a:off x="5795010" y="2198373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Depth 8 is reasonable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41"/>
          <p:cNvSpPr/>
          <p:nvPr/>
        </p:nvSpPr>
        <p:spPr>
          <a:xfrm>
            <a:off x="5795010" y="2457450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Train R² keeps rising with depth while test R² levels off near 0.92 from depth 4.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41"/>
          <p:cNvSpPr/>
          <p:nvPr/>
        </p:nvSpPr>
        <p:spPr>
          <a:xfrm>
            <a:off x="5795010" y="2907031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On this split deeper trees reach 0.93, but gains are small and overfitting grows.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41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2"/>
          <p:cNvSpPr txBox="1"/>
          <p:nvPr>
            <p:ph type="title"/>
          </p:nvPr>
        </p:nvSpPr>
        <p:spPr>
          <a:xfrm>
            <a:off x="609600" y="296925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Generalization check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v plot" id="323" name="Google Shape;3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1215391"/>
            <a:ext cx="4762500" cy="304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4" name="Google Shape;324;p42"/>
          <p:cNvGraphicFramePr/>
          <p:nvPr/>
        </p:nvGraphicFramePr>
        <p:xfrm>
          <a:off x="5608320" y="139065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{CF0F31A1-41D4-4AAF-B530-283CD640ACAE}</a:tableStyleId>
              </a:tblPr>
              <a:tblGrid>
                <a:gridCol w="975350"/>
                <a:gridCol w="975350"/>
                <a:gridCol w="975350"/>
              </a:tblGrid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Train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CECEC"/>
                    </a:solidFill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R²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0.983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0.918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CBCB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MAE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₹2.06M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₹4.69M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2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RMSE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₹3.65M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A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1B2A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₹8.33M</a:t>
                      </a:r>
                      <a:endParaRPr sz="12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5725" marB="85725" marR="114300" marL="114300">
                    <a:lnL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BCBC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25" name="Google Shape;325;p42"/>
          <p:cNvSpPr/>
          <p:nvPr/>
        </p:nvSpPr>
        <p:spPr>
          <a:xfrm>
            <a:off x="5603081" y="3077054"/>
            <a:ext cx="2928938" cy="1016318"/>
          </a:xfrm>
          <a:prstGeom prst="roundRect">
            <a:avLst>
              <a:gd fmla="val 7263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42"/>
          <p:cNvSpPr/>
          <p:nvPr/>
        </p:nvSpPr>
        <p:spPr>
          <a:xfrm>
            <a:off x="5795010" y="3268981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5-fold CV R²: 0.915 ± 0.007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2"/>
          <p:cNvSpPr/>
          <p:nvPr/>
        </p:nvSpPr>
        <p:spPr>
          <a:xfrm>
            <a:off x="5795010" y="3528059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Stable across folds, so the test score is not a lucky split.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42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3"/>
          <p:cNvSpPr txBox="1"/>
          <p:nvPr>
            <p:ph type="title"/>
          </p:nvPr>
        </p:nvSpPr>
        <p:spPr>
          <a:xfrm>
            <a:off x="609600" y="328200"/>
            <a:ext cx="8162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2430"/>
              <a:buFont typeface="Georgia"/>
              <a:buNone/>
            </a:pPr>
            <a:r>
              <a:rPr b="1" i="0" lang="en" sz="3330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Error by building type</a:t>
            </a:r>
            <a:endParaRPr b="1" sz="333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t plot" id="335" name="Google Shape;335;p43"/>
          <p:cNvPicPr preferRelativeResize="0"/>
          <p:nvPr/>
        </p:nvPicPr>
        <p:blipFill rotWithShape="1">
          <a:blip r:embed="rId3">
            <a:alphaModFix/>
          </a:blip>
          <a:srcRect b="0" l="-42" r="-42" t="0"/>
          <a:stretch/>
        </p:blipFill>
        <p:spPr>
          <a:xfrm>
            <a:off x="609600" y="1215391"/>
            <a:ext cx="4762500" cy="2595563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43"/>
          <p:cNvSpPr/>
          <p:nvPr/>
        </p:nvSpPr>
        <p:spPr>
          <a:xfrm>
            <a:off x="5603081" y="1780222"/>
            <a:ext cx="2928938" cy="1465897"/>
          </a:xfrm>
          <a:prstGeom prst="roundRect">
            <a:avLst>
              <a:gd fmla="val 5036" name="adj"/>
            </a:avLst>
          </a:prstGeom>
          <a:solidFill>
            <a:srgbClr val="F3F5F7"/>
          </a:solidFill>
          <a:ln cap="flat" cmpd="sng" w="9525">
            <a:solidFill>
              <a:srgbClr val="E3E6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43"/>
          <p:cNvSpPr/>
          <p:nvPr/>
        </p:nvSpPr>
        <p:spPr>
          <a:xfrm>
            <a:off x="5795010" y="1972154"/>
            <a:ext cx="2621432" cy="2019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Larger projects, larger errors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43"/>
          <p:cNvSpPr/>
          <p:nvPr/>
        </p:nvSpPr>
        <p:spPr>
          <a:xfrm>
            <a:off x="5795010" y="2231231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Retail / Mall has the highest MAE (₹9.5M); Independent House the lowest.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43"/>
          <p:cNvSpPr/>
          <p:nvPr/>
        </p:nvSpPr>
        <p:spPr>
          <a:xfrm>
            <a:off x="5795010" y="2680813"/>
            <a:ext cx="2621432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A3A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B2A3A"/>
                </a:solidFill>
                <a:latin typeface="Arial"/>
                <a:ea typeface="Arial"/>
                <a:cs typeface="Arial"/>
                <a:sym typeface="Arial"/>
              </a:rPr>
              <a:t>Errors scale with project size, in line with the quantity-driven model.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43"/>
          <p:cNvSpPr/>
          <p:nvPr/>
        </p:nvSpPr>
        <p:spPr>
          <a:xfrm>
            <a:off x="609600" y="4678682"/>
            <a:ext cx="5886450" cy="179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5B6672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5B6672"/>
                </a:solidFill>
                <a:latin typeface="Arial"/>
                <a:ea typeface="Arial"/>
                <a:cs typeface="Arial"/>
                <a:sym typeface="Arial"/>
              </a:rPr>
              <a:t>Decision Tree Regressor · Painting cost estimation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43"/>
          <p:cNvSpPr txBox="1"/>
          <p:nvPr/>
        </p:nvSpPr>
        <p:spPr>
          <a:xfrm>
            <a:off x="3116325" y="839000"/>
            <a:ext cx="604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1B2A3A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4"/>
          <p:cNvSpPr txBox="1"/>
          <p:nvPr>
            <p:ph idx="4294967295" type="ctrTitle"/>
          </p:nvPr>
        </p:nvSpPr>
        <p:spPr>
          <a:xfrm flipH="1">
            <a:off x="-3" y="149257"/>
            <a:ext cx="9144000" cy="734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  </a:t>
            </a:r>
            <a:r>
              <a:rPr b="1" lang="en" sz="3300"/>
              <a:t>SVR Model: Implementation</a:t>
            </a:r>
            <a:br>
              <a:rPr lang="en" sz="2100"/>
            </a:br>
            <a:endParaRPr sz="2100"/>
          </a:p>
        </p:txBody>
      </p:sp>
      <p:sp>
        <p:nvSpPr>
          <p:cNvPr id="347" name="Google Shape;347;p44"/>
          <p:cNvSpPr/>
          <p:nvPr/>
        </p:nvSpPr>
        <p:spPr>
          <a:xfrm>
            <a:off x="236764" y="700496"/>
            <a:ext cx="8684700" cy="34200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44"/>
          <p:cNvSpPr txBox="1"/>
          <p:nvPr/>
        </p:nvSpPr>
        <p:spPr>
          <a:xfrm>
            <a:off x="435025" y="827700"/>
            <a:ext cx="8427000" cy="9312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path path="circle">
              <a:fillToRect b="50%" l="50%" r="50%" t="50%"/>
            </a:path>
            <a:tileRect/>
          </a:gra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  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Why </a:t>
            </a:r>
            <a:r>
              <a:rPr b="1" lang="en">
                <a:solidFill>
                  <a:schemeClr val="dk1"/>
                </a:solidFill>
              </a:rPr>
              <a:t>Support Vector</a:t>
            </a:r>
            <a:r>
              <a:rPr b="1" i="0" lang="en" sz="1400" u="none" cap="none" strike="noStrike">
                <a:solidFill>
                  <a:schemeClr val="dk1"/>
                </a:solidFill>
              </a:rPr>
              <a:t> Regression</a:t>
            </a:r>
            <a:r>
              <a:rPr b="1" i="0" lang="en" sz="1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?</a:t>
            </a:r>
            <a:endParaRPr b="1"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S</a:t>
            </a:r>
            <a:r>
              <a:rPr lang="en">
                <a:solidFill>
                  <a:schemeClr val="dk1"/>
                </a:solidFill>
              </a:rPr>
              <a:t>VR is a regression method that learns a function with a margin ( epsilon-tube) around predictions. With an RBF kernel, it can model non-linear relationships between project features and painting cost. </a:t>
            </a:r>
            <a:endParaRPr sz="1100"/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9" name="Google Shape;349;p44"/>
          <p:cNvSpPr/>
          <p:nvPr/>
        </p:nvSpPr>
        <p:spPr>
          <a:xfrm>
            <a:off x="437606" y="2072315"/>
            <a:ext cx="3831000" cy="11079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44"/>
          <p:cNvSpPr txBox="1"/>
          <p:nvPr/>
        </p:nvSpPr>
        <p:spPr>
          <a:xfrm>
            <a:off x="631333" y="2119175"/>
            <a:ext cx="24738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 Prepare the data      </a:t>
            </a:r>
            <a:endParaRPr sz="1100"/>
          </a:p>
        </p:txBody>
      </p:sp>
      <p:sp>
        <p:nvSpPr>
          <p:cNvPr id="351" name="Google Shape;351;p44"/>
          <p:cNvSpPr/>
          <p:nvPr/>
        </p:nvSpPr>
        <p:spPr>
          <a:xfrm flipH="1">
            <a:off x="435135" y="2064739"/>
            <a:ext cx="180900" cy="1115700"/>
          </a:xfrm>
          <a:prstGeom prst="rect">
            <a:avLst/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20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4"/>
          <p:cNvSpPr txBox="1"/>
          <p:nvPr/>
        </p:nvSpPr>
        <p:spPr>
          <a:xfrm>
            <a:off x="750350" y="2354400"/>
            <a:ext cx="34503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Dataset: painting-related BOQ records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Inputs : items,quantity(sqm),building type</a:t>
            </a:r>
            <a:r>
              <a:rPr lang="en" sz="1200">
                <a:solidFill>
                  <a:schemeClr val="dk1"/>
                </a:solidFill>
              </a:rPr>
              <a:t>s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Target: amount_inr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44"/>
          <p:cNvSpPr/>
          <p:nvPr/>
        </p:nvSpPr>
        <p:spPr>
          <a:xfrm>
            <a:off x="4679005" y="2080426"/>
            <a:ext cx="3957900" cy="11535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4"/>
          <p:cNvSpPr/>
          <p:nvPr/>
        </p:nvSpPr>
        <p:spPr>
          <a:xfrm>
            <a:off x="2599043" y="3586645"/>
            <a:ext cx="4087500" cy="12120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4"/>
          <p:cNvSpPr/>
          <p:nvPr/>
        </p:nvSpPr>
        <p:spPr>
          <a:xfrm flipH="1">
            <a:off x="4679103" y="2067232"/>
            <a:ext cx="196200" cy="1166700"/>
          </a:xfrm>
          <a:prstGeom prst="rect">
            <a:avLst/>
          </a:prstGeom>
          <a:solidFill>
            <a:srgbClr val="C000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44"/>
          <p:cNvSpPr/>
          <p:nvPr/>
        </p:nvSpPr>
        <p:spPr>
          <a:xfrm flipH="1">
            <a:off x="2598985" y="3575652"/>
            <a:ext cx="193200" cy="1212000"/>
          </a:xfrm>
          <a:prstGeom prst="rect">
            <a:avLst/>
          </a:prstGeom>
          <a:solidFill>
            <a:srgbClr val="FFFF00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44"/>
          <p:cNvSpPr txBox="1"/>
          <p:nvPr/>
        </p:nvSpPr>
        <p:spPr>
          <a:xfrm>
            <a:off x="4980905" y="2045098"/>
            <a:ext cx="2931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 Preprocess</a:t>
            </a:r>
            <a:r>
              <a:rPr b="1" lang="en">
                <a:solidFill>
                  <a:schemeClr val="dk1"/>
                </a:solidFill>
              </a:rPr>
              <a:t> and train SVR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44"/>
          <p:cNvSpPr txBox="1"/>
          <p:nvPr/>
        </p:nvSpPr>
        <p:spPr>
          <a:xfrm>
            <a:off x="5100124" y="2273138"/>
            <a:ext cx="34836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Encode categorical fields: scale numeric features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Fit a preprocessing + SVR pipeline</a:t>
            </a:r>
            <a:endParaRPr sz="1200">
              <a:solidFill>
                <a:schemeClr val="dk1"/>
              </a:solidFill>
            </a:endParaRPr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200">
                <a:solidFill>
                  <a:schemeClr val="dk1"/>
                </a:solidFill>
              </a:rPr>
              <a:t>Start with the RBF kernel</a:t>
            </a:r>
            <a:endParaRPr sz="1200">
              <a:solidFill>
                <a:schemeClr val="dk1"/>
              </a:solidFill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59" name="Google Shape;359;p44"/>
          <p:cNvSpPr txBox="1"/>
          <p:nvPr/>
        </p:nvSpPr>
        <p:spPr>
          <a:xfrm>
            <a:off x="2872807" y="3639111"/>
            <a:ext cx="17064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 Train / test split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4"/>
          <p:cNvSpPr txBox="1"/>
          <p:nvPr/>
        </p:nvSpPr>
        <p:spPr>
          <a:xfrm>
            <a:off x="2996035" y="3926818"/>
            <a:ext cx="30861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training</a:t>
            </a:r>
            <a:endParaRPr sz="1100"/>
          </a:p>
          <a:p>
            <a:pPr indent="-215900" lvl="0" marL="215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0% testing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5"/>
          <p:cNvSpPr txBox="1"/>
          <p:nvPr>
            <p:ph idx="4294967295" type="ctrTitle"/>
          </p:nvPr>
        </p:nvSpPr>
        <p:spPr>
          <a:xfrm flipH="1">
            <a:off x="-3" y="146957"/>
            <a:ext cx="9144000" cy="734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lay"/>
              <a:buNone/>
            </a:pPr>
            <a:r>
              <a:rPr lang="en" sz="2100"/>
              <a:t>                        </a:t>
            </a:r>
            <a:r>
              <a:rPr b="1" lang="en" sz="3300"/>
              <a:t>SVR Model: Evaluation Result</a:t>
            </a:r>
            <a:r>
              <a:rPr lang="en" sz="21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" sz="2100"/>
            </a:br>
            <a:endParaRPr sz="2100"/>
          </a:p>
        </p:txBody>
      </p:sp>
      <p:sp>
        <p:nvSpPr>
          <p:cNvPr id="366" name="Google Shape;366;p45"/>
          <p:cNvSpPr/>
          <p:nvPr/>
        </p:nvSpPr>
        <p:spPr>
          <a:xfrm>
            <a:off x="155121" y="700496"/>
            <a:ext cx="8752200" cy="34200"/>
          </a:xfrm>
          <a:prstGeom prst="rect">
            <a:avLst/>
          </a:prstGeom>
          <a:solidFill>
            <a:srgbClr val="BFBFBF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45"/>
          <p:cNvSpPr txBox="1"/>
          <p:nvPr/>
        </p:nvSpPr>
        <p:spPr>
          <a:xfrm>
            <a:off x="1175657" y="2416628"/>
            <a:ext cx="138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5"/>
          <p:cNvSpPr txBox="1"/>
          <p:nvPr/>
        </p:nvSpPr>
        <p:spPr>
          <a:xfrm>
            <a:off x="1941305" y="1900674"/>
            <a:ext cx="4641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45"/>
          <p:cNvSpPr txBox="1"/>
          <p:nvPr/>
        </p:nvSpPr>
        <p:spPr>
          <a:xfrm>
            <a:off x="3893191" y="1911616"/>
            <a:ext cx="5061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45"/>
          <p:cNvSpPr txBox="1"/>
          <p:nvPr/>
        </p:nvSpPr>
        <p:spPr>
          <a:xfrm>
            <a:off x="5937230" y="1900674"/>
            <a:ext cx="1386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71" name="Google Shape;371;p45"/>
          <p:cNvGraphicFramePr/>
          <p:nvPr/>
        </p:nvGraphicFramePr>
        <p:xfrm>
          <a:off x="155121" y="1507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{3BC0AAAB-1D53-4040-A699-5D96CEA510C0}</a:tableStyleId>
              </a:tblPr>
              <a:tblGrid>
                <a:gridCol w="3789000"/>
                <a:gridCol w="3946925"/>
              </a:tblGrid>
              <a:tr h="6325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matrices</a:t>
                      </a:r>
                      <a:endParaRPr b="1" sz="1400" u="none" cap="none" strike="noStrike"/>
                    </a:p>
                  </a:txBody>
                  <a:tcPr marT="34300" marB="34300" marR="68600" marL="6860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Simple Vector Regression</a:t>
                      </a:r>
                      <a:endParaRPr sz="1400" u="none" cap="none" strike="noStrike"/>
                    </a:p>
                  </a:txBody>
                  <a:tcPr marT="34300" marB="34300" marR="68600" marL="68600" anchor="ctr"/>
                </a:tc>
              </a:tr>
              <a:tr h="54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MAE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>
                          <a:solidFill>
                            <a:srgbClr val="2D374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       3228138</a:t>
                      </a:r>
                      <a:endParaRPr b="1">
                        <a:solidFill>
                          <a:srgbClr val="2D3748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400" u="none" cap="none" strike="noStrike"/>
                        <a:t>RMSE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                  </a:t>
                      </a:r>
                      <a:r>
                        <a:rPr b="1" lang="en"/>
                        <a:t>5511005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  <a:tr h="4319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R² score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                   0.9636</a:t>
                      </a:r>
                      <a:endParaRPr b="1"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  <p:sp>
        <p:nvSpPr>
          <p:cNvPr id="372" name="Google Shape;372;p45"/>
          <p:cNvSpPr txBox="1"/>
          <p:nvPr/>
        </p:nvSpPr>
        <p:spPr>
          <a:xfrm>
            <a:off x="161303" y="947888"/>
            <a:ext cx="4024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Model performance</a:t>
            </a:r>
            <a:endParaRPr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6"/>
          <p:cNvSpPr txBox="1"/>
          <p:nvPr>
            <p:ph idx="1" type="subTitle"/>
          </p:nvPr>
        </p:nvSpPr>
        <p:spPr>
          <a:xfrm>
            <a:off x="204275" y="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b="1" lang="en" sz="13200">
                <a:solidFill>
                  <a:srgbClr val="1F3044"/>
                </a:solidFill>
              </a:rPr>
              <a:t>         Actual vs. Predicted Painting Costs</a:t>
            </a:r>
            <a:endParaRPr b="1" sz="132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7361"/>
              <a:buFont typeface="Arial"/>
              <a:buNone/>
            </a:pPr>
            <a:r>
              <a:t/>
            </a:r>
            <a:endParaRPr b="1" sz="2944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78" name="Google Shape;378;p46"/>
          <p:cNvSpPr txBox="1"/>
          <p:nvPr/>
        </p:nvSpPr>
        <p:spPr>
          <a:xfrm>
            <a:off x="4739625" y="1008275"/>
            <a:ext cx="39081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rgbClr val="2A344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79" name="Google Shape;379;p46"/>
          <p:cNvSpPr txBox="1"/>
          <p:nvPr/>
        </p:nvSpPr>
        <p:spPr>
          <a:xfrm>
            <a:off x="4572000" y="2253150"/>
            <a:ext cx="3694200" cy="6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600">
              <a:solidFill>
                <a:srgbClr val="1D9B9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80" name="Google Shape;380;p46"/>
          <p:cNvSpPr txBox="1"/>
          <p:nvPr/>
        </p:nvSpPr>
        <p:spPr>
          <a:xfrm>
            <a:off x="4739625" y="2571750"/>
            <a:ext cx="4062600" cy="9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50">
              <a:solidFill>
                <a:srgbClr val="2A344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381" name="Google Shape;381;p46"/>
          <p:cNvSpPr txBox="1"/>
          <p:nvPr/>
        </p:nvSpPr>
        <p:spPr>
          <a:xfrm>
            <a:off x="855275" y="3908100"/>
            <a:ext cx="7869600" cy="9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650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82" name="Google Shape;382;p46" title="WhatsApp Image 2026-10-24 at 20.25.17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73022"/>
            <a:ext cx="9144000" cy="2954655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46"/>
          <p:cNvSpPr txBox="1"/>
          <p:nvPr/>
        </p:nvSpPr>
        <p:spPr>
          <a:xfrm>
            <a:off x="435900" y="4086275"/>
            <a:ext cx="8520600" cy="9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F3044"/>
                </a:solidFill>
              </a:rPr>
              <a:t>The dashed diagonal represents perfect predictions. Points closer to the line indicate smaller prediction errors.</a:t>
            </a:r>
            <a:endParaRPr sz="11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5A6572"/>
                </a:solidFill>
              </a:rPr>
              <a:t>                  </a:t>
            </a:r>
            <a:r>
              <a:rPr lang="en" sz="1150">
                <a:solidFill>
                  <a:srgbClr val="5A6572"/>
                </a:solidFill>
              </a:rPr>
              <a:t> </a:t>
            </a:r>
            <a:r>
              <a:rPr lang="en" sz="1050">
                <a:solidFill>
                  <a:srgbClr val="5A6572"/>
                </a:solidFill>
              </a:rPr>
              <a:t>Linear Regression and SVM appear closer to the reference line overall; Decision Tree has more visible deviations, especially for                 higher-cost samples</a:t>
            </a:r>
            <a:endParaRPr sz="10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7"/>
          <p:cNvSpPr txBox="1"/>
          <p:nvPr>
            <p:ph type="title"/>
          </p:nvPr>
        </p:nvSpPr>
        <p:spPr>
          <a:xfrm>
            <a:off x="0" y="76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    Energy Consumption Comparison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47"/>
          <p:cNvSpPr txBox="1"/>
          <p:nvPr/>
        </p:nvSpPr>
        <p:spPr>
          <a:xfrm>
            <a:off x="427625" y="4310975"/>
            <a:ext cx="8445900" cy="7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1F3044"/>
                </a:solidFill>
              </a:rPr>
              <a:t>This chart compares energy used during training and test prediction. Lower energy consumption is preferable when model performance is comparable.</a:t>
            </a:r>
            <a:endParaRPr sz="10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50">
                <a:solidFill>
                  <a:srgbClr val="5A6572"/>
                </a:solidFill>
              </a:rPr>
              <a:t>       </a:t>
            </a:r>
            <a:r>
              <a:rPr lang="en" sz="950">
                <a:solidFill>
                  <a:srgbClr val="5A6572"/>
                </a:solidFill>
              </a:rPr>
              <a:t>Linear Regression uses 0.2136 J, Decision Tree 0.2546 J, and SVM 0.2732 J. Linear Regression has the lowest reported energy use in this plot.</a:t>
            </a:r>
            <a:endParaRPr sz="9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390" name="Google Shape;390;p47" title="WhatsApp Image 2026-10-24 at 20.25.17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4775" y="727375"/>
            <a:ext cx="4834448" cy="3299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8"/>
          <p:cNvSpPr txBox="1"/>
          <p:nvPr>
            <p:ph type="title"/>
          </p:nvPr>
        </p:nvSpPr>
        <p:spPr>
          <a:xfrm>
            <a:off x="152400" y="155550"/>
            <a:ext cx="8839200" cy="55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0137"/>
              <a:buFont typeface="Arial"/>
              <a:buNone/>
            </a:pPr>
            <a:r>
              <a:rPr b="1" lang="en" sz="3650">
                <a:solidFill>
                  <a:srgbClr val="1F3044"/>
                </a:solidFill>
              </a:rPr>
              <a:t>     Residuals vs. Predicted Painting Costs</a:t>
            </a:r>
            <a:endParaRPr b="1" sz="365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</p:txBody>
      </p:sp>
      <p:pic>
        <p:nvPicPr>
          <p:cNvPr id="396" name="Google Shape;396;p48" title="WhatsApp Image 2026-10-24 at 20.25.18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49375"/>
            <a:ext cx="8839200" cy="2856166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48"/>
          <p:cNvSpPr txBox="1"/>
          <p:nvPr/>
        </p:nvSpPr>
        <p:spPr>
          <a:xfrm>
            <a:off x="570175" y="4098175"/>
            <a:ext cx="8327100" cy="8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1F3044"/>
                </a:solidFill>
              </a:rPr>
              <a:t>Residual = actual cost − predicted cost. The dashed horizontal line marks zero error; residuals around zero indicate closer predictions.</a:t>
            </a:r>
            <a:endParaRPr sz="10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50">
                <a:solidFill>
                  <a:srgbClr val="5A6572"/>
                </a:solidFill>
              </a:rPr>
              <a:t>    The spread grows for higher predicted costs, and Decision Tree shows several larger residuals. This suggests high-cost cases are harder to    estimate consistently</a:t>
            </a:r>
            <a:endParaRPr sz="9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9"/>
          <p:cNvSpPr txBox="1"/>
          <p:nvPr>
            <p:ph type="title"/>
          </p:nvPr>
        </p:nvSpPr>
        <p:spPr>
          <a:xfrm>
            <a:off x="86100" y="156650"/>
            <a:ext cx="8870400" cy="6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Test Error Comparison: MAE and RMSE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03" name="Google Shape;403;p49" title="WhatsApp Image 2026-10-24 at 20.25.18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4025" y="776325"/>
            <a:ext cx="5758300" cy="3480194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49"/>
          <p:cNvSpPr txBox="1"/>
          <p:nvPr/>
        </p:nvSpPr>
        <p:spPr>
          <a:xfrm>
            <a:off x="700850" y="4303500"/>
            <a:ext cx="82557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MAE is the average absolute prediction error; RMSE penalizes larger errors more strongly. Lower values indicate better performance.</a:t>
            </a:r>
            <a:endParaRPr sz="9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50">
                <a:solidFill>
                  <a:srgbClr val="5A6572"/>
                </a:solidFill>
              </a:rPr>
              <a:t>Linear Regression and SVM have similar errors (MAE ≈ 32.5 and RMSE ≈ 55), while Decision Tree has higher errors (MAE 52.27, RMSE 102.54). Linear Regression has the lowest MAE; SVM has a marginally lower RMSE</a:t>
            </a:r>
            <a:endParaRPr sz="850">
              <a:solidFill>
                <a:srgbClr val="5A657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0"/>
          <p:cNvSpPr txBox="1"/>
          <p:nvPr>
            <p:ph type="title"/>
          </p:nvPr>
        </p:nvSpPr>
        <p:spPr>
          <a:xfrm>
            <a:off x="86100" y="156650"/>
            <a:ext cx="8870400" cy="6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9909"/>
              <a:buFont typeface="Arial"/>
              <a:buNone/>
            </a:pPr>
            <a:r>
              <a:rPr b="1" lang="en" sz="3678">
                <a:solidFill>
                  <a:srgbClr val="1F3044"/>
                </a:solidFill>
              </a:rPr>
              <a:t>      R</a:t>
            </a:r>
            <a:r>
              <a:rPr b="1" baseline="30000" lang="en" sz="3678">
                <a:solidFill>
                  <a:srgbClr val="1F3044"/>
                </a:solidFill>
              </a:rPr>
              <a:t>2</a:t>
            </a:r>
            <a:r>
              <a:rPr b="1" lang="en" sz="3678">
                <a:solidFill>
                  <a:srgbClr val="1F3044"/>
                </a:solidFill>
              </a:rPr>
              <a:t> Score Comparison</a:t>
            </a:r>
            <a:endParaRPr b="1" sz="3678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8411"/>
              <a:buFont typeface="Arial"/>
              <a:buNone/>
            </a:pPr>
            <a:r>
              <a:t/>
            </a:r>
            <a:endParaRPr b="1" sz="2272">
              <a:solidFill>
                <a:srgbClr val="12244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50"/>
          <p:cNvSpPr txBox="1"/>
          <p:nvPr/>
        </p:nvSpPr>
        <p:spPr>
          <a:xfrm>
            <a:off x="700850" y="4303500"/>
            <a:ext cx="82557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R² score measures how well a model explains the variation in the target variable; values closer to 1 indicate better performance.</a:t>
            </a:r>
            <a:endParaRPr sz="900">
              <a:solidFill>
                <a:srgbClr val="1F3044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1F3044"/>
                </a:solidFill>
              </a:rPr>
              <a:t>SVM (0.9640) and Linear Regression (0.9636) perform almost identically, while Decision Tree has a lower R² score (0.8753). SVM achieves the highest R² score, marginally outperforming Linear Regression.</a:t>
            </a:r>
            <a:endParaRPr sz="900">
              <a:solidFill>
                <a:srgbClr val="1F3044"/>
              </a:solidFill>
            </a:endParaRPr>
          </a:p>
        </p:txBody>
      </p:sp>
      <p:pic>
        <p:nvPicPr>
          <p:cNvPr id="411" name="Google Shape;411;p50" title="R2_Score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3413" y="847250"/>
            <a:ext cx="5197176" cy="3222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51"/>
          <p:cNvSpPr/>
          <p:nvPr/>
        </p:nvSpPr>
        <p:spPr>
          <a:xfrm>
            <a:off x="5709733" y="1101149"/>
            <a:ext cx="250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FFFFFF"/>
                </a:solidFill>
                <a:latin typeface="Verdana"/>
                <a:ea typeface="Verdana"/>
                <a:cs typeface="Verdana"/>
                <a:sym typeface="Verdana"/>
              </a:rPr>
              <a:t>Questions?</a:t>
            </a:r>
            <a:endParaRPr sz="1100"/>
          </a:p>
        </p:txBody>
      </p:sp>
      <p:cxnSp>
        <p:nvCxnSpPr>
          <p:cNvPr id="418" name="Google Shape;418;p51"/>
          <p:cNvCxnSpPr/>
          <p:nvPr/>
        </p:nvCxnSpPr>
        <p:spPr>
          <a:xfrm>
            <a:off x="-15949" y="664818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19" name="Google Shape;419;p51"/>
          <p:cNvSpPr/>
          <p:nvPr/>
        </p:nvSpPr>
        <p:spPr>
          <a:xfrm>
            <a:off x="456396" y="198741"/>
            <a:ext cx="5001429" cy="449346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51"/>
          <p:cNvSpPr txBox="1"/>
          <p:nvPr/>
        </p:nvSpPr>
        <p:spPr>
          <a:xfrm>
            <a:off x="-15949" y="81563"/>
            <a:ext cx="9257735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1100"/>
          </a:p>
        </p:txBody>
      </p:sp>
      <p:cxnSp>
        <p:nvCxnSpPr>
          <p:cNvPr id="421" name="Google Shape;421;p51"/>
          <p:cNvCxnSpPr/>
          <p:nvPr/>
        </p:nvCxnSpPr>
        <p:spPr>
          <a:xfrm>
            <a:off x="4464582" y="690619"/>
            <a:ext cx="34200" cy="39366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22" name="Google Shape;422;p51"/>
          <p:cNvSpPr txBox="1"/>
          <p:nvPr/>
        </p:nvSpPr>
        <p:spPr>
          <a:xfrm>
            <a:off x="408975" y="961750"/>
            <a:ext cx="40029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-279400" lvl="0" marL="254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</a:t>
            </a:r>
            <a:r>
              <a:rPr b="1" baseline="30000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Score: &gt; 0.9</a:t>
            </a:r>
            <a:r>
              <a:rPr b="1" lang="en" sz="1800">
                <a:solidFill>
                  <a:schemeClr val="dk1"/>
                </a:solidFill>
              </a:rPr>
              <a:t>6</a:t>
            </a: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0" marL="254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❑"/>
            </a:pP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Integrated </a:t>
            </a:r>
            <a:r>
              <a:rPr b="1" lang="en" sz="1800">
                <a:solidFill>
                  <a:schemeClr val="dk1"/>
                </a:solidFill>
              </a:rPr>
              <a:t>with</a:t>
            </a:r>
            <a:r>
              <a:rPr b="1"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user friendly U</a:t>
            </a:r>
            <a:r>
              <a:rPr b="1" lang="en" sz="1800">
                <a:solidFill>
                  <a:schemeClr val="dk1"/>
                </a:solidFill>
              </a:rPr>
              <a:t>I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51"/>
          <p:cNvSpPr txBox="1"/>
          <p:nvPr/>
        </p:nvSpPr>
        <p:spPr>
          <a:xfrm>
            <a:off x="4611200" y="674700"/>
            <a:ext cx="4409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Code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4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https://github.com/Goutam363/painting-cost-prediction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24" name="Google Shape;424;p51"/>
          <p:cNvSpPr/>
          <p:nvPr/>
        </p:nvSpPr>
        <p:spPr>
          <a:xfrm>
            <a:off x="165175" y="2571750"/>
            <a:ext cx="4144800" cy="10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6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2300"/>
          </a:p>
        </p:txBody>
      </p:sp>
      <p:cxnSp>
        <p:nvCxnSpPr>
          <p:cNvPr id="425" name="Google Shape;425;p51"/>
          <p:cNvCxnSpPr/>
          <p:nvPr/>
        </p:nvCxnSpPr>
        <p:spPr>
          <a:xfrm>
            <a:off x="0" y="464376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26" name="Google Shape;426;p51"/>
          <p:cNvSpPr txBox="1"/>
          <p:nvPr/>
        </p:nvSpPr>
        <p:spPr>
          <a:xfrm>
            <a:off x="4611201" y="1293323"/>
            <a:ext cx="45327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1" lang="en" u="sng">
                <a:solidFill>
                  <a:schemeClr val="dk1"/>
                </a:solidFill>
              </a:rPr>
              <a:t>ataset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https://www.kaggle.com/datasets/kaiwalyaatulraut/construction-and-electrical-boq-dataset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427" name="Google Shape;427;p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45400" y="2861950"/>
            <a:ext cx="1629904" cy="1629875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51"/>
          <p:cNvSpPr txBox="1"/>
          <p:nvPr/>
        </p:nvSpPr>
        <p:spPr>
          <a:xfrm>
            <a:off x="4611208" y="2119803"/>
            <a:ext cx="4848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i="0" lang="en" sz="1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Deployed App</a:t>
            </a:r>
            <a:endParaRPr sz="11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" sz="14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https://painting-cost-prediction.streamlit.app/</a:t>
            </a:r>
            <a:endParaRPr b="0" i="0" sz="900">
              <a:solidFill>
                <a:srgbClr val="56536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cision Tree Model: Implementation &amp; Evaluation">
  <a:themeElements>
    <a:clrScheme name="Decision Tree Model: Implementation &amp; Evaluation">
      <a:dk1>
        <a:srgbClr val="1B2A3A"/>
      </a:dk1>
      <a:lt1>
        <a:srgbClr val="FFFFFF"/>
      </a:lt1>
      <a:dk2>
        <a:srgbClr val="545F6B"/>
      </a:dk2>
      <a:lt2>
        <a:srgbClr val="E8EAEB"/>
      </a:lt2>
      <a:accent1>
        <a:srgbClr val="B85A14"/>
      </a:accent1>
      <a:accent2>
        <a:srgbClr val="5B6672"/>
      </a:accent2>
      <a:accent3>
        <a:srgbClr val="9AA0A6"/>
      </a:accent3>
      <a:accent4>
        <a:srgbClr val="767F89"/>
      </a:accent4>
      <a:accent5>
        <a:srgbClr val="989FA6"/>
      </a:accent5>
      <a:accent6>
        <a:srgbClr val="BBBFC4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